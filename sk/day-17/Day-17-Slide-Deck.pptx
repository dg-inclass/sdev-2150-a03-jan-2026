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3"/>
  </p:notesMasterIdLst>
  <p:sldIdLst>
    <p:sldId id="256" r:id="rId2"/>
    <p:sldId id="257" r:id="rId3"/>
    <p:sldId id="282" r:id="rId4"/>
    <p:sldId id="306" r:id="rId5"/>
    <p:sldId id="322" r:id="rId6"/>
    <p:sldId id="307" r:id="rId7"/>
    <p:sldId id="303" r:id="rId8"/>
    <p:sldId id="343" r:id="rId9"/>
    <p:sldId id="342" r:id="rId10"/>
    <p:sldId id="334" r:id="rId11"/>
    <p:sldId id="337" r:id="rId12"/>
    <p:sldId id="354" r:id="rId13"/>
    <p:sldId id="360" r:id="rId14"/>
    <p:sldId id="339" r:id="rId15"/>
    <p:sldId id="361" r:id="rId16"/>
    <p:sldId id="340" r:id="rId17"/>
    <p:sldId id="362" r:id="rId18"/>
    <p:sldId id="363" r:id="rId19"/>
    <p:sldId id="364" r:id="rId20"/>
    <p:sldId id="365" r:id="rId21"/>
    <p:sldId id="366" r:id="rId22"/>
    <p:sldId id="344" r:id="rId23"/>
    <p:sldId id="367" r:id="rId24"/>
    <p:sldId id="368" r:id="rId25"/>
    <p:sldId id="369" r:id="rId26"/>
    <p:sldId id="370" r:id="rId27"/>
    <p:sldId id="295" r:id="rId28"/>
    <p:sldId id="352" r:id="rId29"/>
    <p:sldId id="353" r:id="rId30"/>
    <p:sldId id="258" r:id="rId31"/>
    <p:sldId id="281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84"/>
    <p:restoredTop sz="94679"/>
  </p:normalViewPr>
  <p:slideViewPr>
    <p:cSldViewPr snapToGrid="0">
      <p:cViewPr varScale="1">
        <p:scale>
          <a:sx n="112" d="100"/>
          <a:sy n="112" d="100"/>
        </p:scale>
        <p:origin x="200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411B5-A9B8-6D4E-A83B-91456309AD37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6114E8-53D3-EB43-8A56-360BB7DBB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18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BAB49-A5B2-6384-E3DF-547F4B224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33F74-9E95-3FF6-D454-C8FE8B02C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A9C78-3715-9929-CCA0-CC917FE0A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A795B-34AA-88EC-21E0-9B502A3D2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2019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C1B27-2AC3-687F-17B8-760C59F1F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33A79-D1B1-1F5C-EEF5-578504509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4A97B-D8F8-4C45-E58C-57115F947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15220-2AE2-A6FC-8F7F-808067A00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3574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C5F39-B702-5E3F-4599-66728A78D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EDF982-2DC4-967A-9312-D6BED68F1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17537-430E-8421-E689-3B8A9D451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BC4A2-AA81-6941-9E84-50899CB54C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9296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B8AA7-95E9-3549-30F3-2B533AA02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BB8752-C939-E0A6-D433-09EC25351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E5380-5FAF-1495-42D4-FB958EF0A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C8A2B-F13F-2168-981D-62E0E4A03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0665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A4C01-C84C-9427-B684-2E837D486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925F4-851D-1E92-3AE0-0CC265989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C2922-EE37-3755-0762-3D6AAAEEA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ACD58-4EA1-A06B-85CC-C9B4D93CC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8724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BD5DE-61B2-C42D-9FF0-EB963B154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228A5F-8713-DEDF-062F-EB48EC1663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D426ED-FAB4-8F85-D551-2A1CA3CFA1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67270-9A71-9739-2488-26F6F27E6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35253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8B9B7-AA58-4CCF-7FBD-2FAEE5CE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391BD-E210-773F-DA51-92AB6912A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44E31-2BBF-CA80-62DE-B11A84511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8057C-6C08-54ED-4358-46C9C404C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63218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CE9E6-57DA-2668-431C-EFC765AB2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DA08C7-BB24-5D8F-086D-147BA04CF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22D454-320C-1E57-AB52-F45A68325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C5129-35AB-D540-72DC-7675784484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21074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0361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951" y="2539093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8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951" y="4376057"/>
            <a:ext cx="10606097" cy="11348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177" indent="0" algn="ctr">
              <a:buNone/>
              <a:defRPr sz="2000"/>
            </a:lvl2pPr>
            <a:lvl3pPr marL="914355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3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127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869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AD23F-0E93-DF4A-8F98-CC7CE27E2020}"/>
              </a:ext>
            </a:extLst>
          </p:cNvPr>
          <p:cNvSpPr txBox="1"/>
          <p:nvPr/>
        </p:nvSpPr>
        <p:spPr>
          <a:xfrm>
            <a:off x="1981329" y="679939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38325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5506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78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93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ighlight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8116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0218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ADA339-B7CC-2B4C-9CB9-A33E03B63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951" y="2785277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819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r large charts/images/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11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tarburs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4283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2324503-65B2-B147-B7D0-901C284D8BB3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350AE0C-6DEA-8141-A29A-9086B1E53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32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589" indent="-228589" algn="l" defTabSz="91435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76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43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20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297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475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2479D-7383-A062-82D7-132E719500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SDEV2150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870D04-5049-481F-17B3-6CAD790966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17: Static Routing with React Router 7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396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1445B-2B4F-5954-E61B-77DD40F77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65CDC-2775-AA01-C4E4-CBD66BB41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this lesson, students will: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Configure React Router 7 in a React application</a:t>
            </a:r>
          </a:p>
          <a:p>
            <a:r>
              <a:rPr lang="en-US" dirty="0"/>
              <a:t>Define static routes using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BrowserRoutes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Routes</a:t>
            </a:r>
            <a:r>
              <a:rPr lang="en-US" dirty="0"/>
              <a:t>,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Route</a:t>
            </a:r>
            <a:endParaRPr lang="en-US" dirty="0"/>
          </a:p>
          <a:p>
            <a:r>
              <a:rPr lang="en-US" dirty="0"/>
              <a:t>Use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Link</a:t>
            </a:r>
            <a:r>
              <a:rPr lang="en-US" dirty="0"/>
              <a:t> and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NavLink</a:t>
            </a:r>
            <a:r>
              <a:rPr lang="en-US" dirty="0"/>
              <a:t> for navigation </a:t>
            </a:r>
          </a:p>
          <a:p>
            <a:r>
              <a:rPr lang="en-US" dirty="0"/>
              <a:t>Implement a layout route using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Outlet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787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6C05A-AE25-1768-8A9B-9E1C6122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481B4-3432-EE69-114F-1E97A4260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routing solves</a:t>
            </a:r>
          </a:p>
          <a:p>
            <a:r>
              <a:rPr lang="en-US" dirty="0"/>
              <a:t>Single page applications vs multi page apps</a:t>
            </a:r>
          </a:p>
          <a:p>
            <a:r>
              <a:rPr lang="en-US" dirty="0"/>
              <a:t>React Router basics</a:t>
            </a:r>
          </a:p>
          <a:p>
            <a:r>
              <a:rPr lang="en-US" dirty="0"/>
              <a:t>Static route configuration</a:t>
            </a:r>
          </a:p>
          <a:p>
            <a:r>
              <a:rPr lang="en-US" dirty="0"/>
              <a:t>Layout routes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Outlet</a:t>
            </a:r>
            <a:endParaRPr lang="en-US" dirty="0"/>
          </a:p>
          <a:p>
            <a:r>
              <a:rPr lang="en-US" dirty="0"/>
              <a:t>Adding navigation with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NavLink</a:t>
            </a:r>
            <a:endParaRPr lang="en-US" dirty="0"/>
          </a:p>
          <a:p>
            <a:r>
              <a:rPr lang="en-US" dirty="0"/>
              <a:t>Applying routing to our project</a:t>
            </a:r>
          </a:p>
        </p:txBody>
      </p:sp>
    </p:spTree>
    <p:extLst>
      <p:ext uri="{BB962C8B-B14F-4D97-AF65-F5344CB8AC3E}">
        <p14:creationId xmlns:p14="http://schemas.microsoft.com/office/powerpoint/2010/main" val="1231324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AEED0-DDE6-8C55-40FD-B519647BD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1B982-B120-50FB-49C1-AD22E1B10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Connecting</a:t>
            </a:r>
          </a:p>
        </p:txBody>
      </p:sp>
    </p:spTree>
    <p:extLst>
      <p:ext uri="{BB962C8B-B14F-4D97-AF65-F5344CB8AC3E}">
        <p14:creationId xmlns:p14="http://schemas.microsoft.com/office/powerpoint/2010/main" val="126031711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C1F16-3474-C259-3A81-449262C38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7A18-9B1C-5D39-C1F3-CA18B29F3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traditional web navigation works</a:t>
            </a:r>
            <a:endParaRPr lang="en-CA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A2C2F-55AB-166E-85E7-C1815433E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In a traditional web application:</a:t>
            </a:r>
          </a:p>
          <a:p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User clicks a link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Browser requests a new HTML page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Server returns a full document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entire page reloads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This is known as </a:t>
            </a:r>
            <a:r>
              <a:rPr lang="en-US" b="1" dirty="0"/>
              <a:t>multi page navigation</a:t>
            </a:r>
            <a:r>
              <a:rPr lang="en-US" dirty="0"/>
              <a:t>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92794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52A6-B6C0-A97B-A6FC-A05487E60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2162D-6F79-9F91-305A-598E214D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How React applications navigate</a:t>
            </a:r>
          </a:p>
        </p:txBody>
      </p:sp>
    </p:spTree>
    <p:extLst>
      <p:ext uri="{BB962C8B-B14F-4D97-AF65-F5344CB8AC3E}">
        <p14:creationId xmlns:p14="http://schemas.microsoft.com/office/powerpoint/2010/main" val="1731326145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21949-70E6-524C-C90E-FD61F5759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Duplicated state leads to inconsistency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8D638-C70C-9E14-E05B-EC549CBAB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In a React application: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application loads once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JavaScript controls what is rendered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Navigation changes the visible component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page does not fully reload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is </a:t>
            </a:r>
            <a:r>
              <a:rPr lang="en-US" b="1" dirty="0"/>
              <a:t>client side routing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45460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D1674-0C00-994F-3851-3DD0F7D40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D86F6-244E-2771-CFCA-127394EA4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Why routing matters</a:t>
            </a:r>
          </a:p>
        </p:txBody>
      </p:sp>
    </p:spTree>
    <p:extLst>
      <p:ext uri="{BB962C8B-B14F-4D97-AF65-F5344CB8AC3E}">
        <p14:creationId xmlns:p14="http://schemas.microsoft.com/office/powerpoint/2010/main" val="2511367113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29AD5-7EEF-A6B5-9788-0A900F264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1035"/>
            <a:ext cx="10515600" cy="44614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Without routing:</a:t>
            </a:r>
          </a:p>
          <a:p>
            <a:r>
              <a:rPr lang="en-US" dirty="0"/>
              <a:t>Applications become one very large component</a:t>
            </a:r>
          </a:p>
          <a:p>
            <a:r>
              <a:rPr lang="en-US" dirty="0"/>
              <a:t>Navigation logic becomes messy</a:t>
            </a:r>
          </a:p>
          <a:p>
            <a:r>
              <a:rPr lang="en-US" dirty="0"/>
              <a:t>Features are difficult to separate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Routing helps us:</a:t>
            </a:r>
          </a:p>
          <a:p>
            <a:r>
              <a:rPr lang="en-US" dirty="0"/>
              <a:t>Organize screens</a:t>
            </a:r>
          </a:p>
          <a:p>
            <a:r>
              <a:rPr lang="en-US" dirty="0"/>
              <a:t>Manage navigation</a:t>
            </a:r>
          </a:p>
          <a:p>
            <a:r>
              <a:rPr lang="en-US" dirty="0"/>
              <a:t>Structure applications</a:t>
            </a:r>
          </a:p>
        </p:txBody>
      </p:sp>
    </p:spTree>
    <p:extLst>
      <p:ext uri="{BB962C8B-B14F-4D97-AF65-F5344CB8AC3E}">
        <p14:creationId xmlns:p14="http://schemas.microsoft.com/office/powerpoint/2010/main" val="3128015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E8DDC-5CAF-8C2E-AC71-BD16391A4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FF2E8-4E54-ED2C-0752-EE01D1D68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React Router Basics</a:t>
            </a:r>
          </a:p>
        </p:txBody>
      </p:sp>
    </p:spTree>
    <p:extLst>
      <p:ext uri="{BB962C8B-B14F-4D97-AF65-F5344CB8AC3E}">
        <p14:creationId xmlns:p14="http://schemas.microsoft.com/office/powerpoint/2010/main" val="1484660151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D9768-B8BB-1AEA-D538-D18DEA286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FE643-E95A-8E85-A833-3F24CA2C5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48910"/>
            <a:ext cx="10515600" cy="30636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npm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install react-router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React Router provides tools that allow React apps to behave like multi page applications.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BC415C-6716-B5DF-F21D-5C67E3C38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Installing React Router</a:t>
            </a:r>
          </a:p>
        </p:txBody>
      </p:sp>
    </p:spTree>
    <p:extLst>
      <p:ext uri="{BB962C8B-B14F-4D97-AF65-F5344CB8AC3E}">
        <p14:creationId xmlns:p14="http://schemas.microsoft.com/office/powerpoint/2010/main" val="3639527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17176-BA29-A6B4-FA31-120A15379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9B92B-BD69-A233-2C55-51F5EB3A7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0842"/>
            <a:ext cx="10515600" cy="334739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React Router commonly uses three components: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BrowserRouter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Routes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Route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Together they define the </a:t>
            </a:r>
            <a:r>
              <a:rPr lang="en-US" b="1" dirty="0"/>
              <a:t>route structure</a:t>
            </a:r>
            <a:r>
              <a:rPr lang="en-US" dirty="0"/>
              <a:t> of the application.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6BA7F-6715-A130-8CE0-7CF89CC96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Core Router Components</a:t>
            </a:r>
          </a:p>
        </p:txBody>
      </p:sp>
    </p:spTree>
    <p:extLst>
      <p:ext uri="{BB962C8B-B14F-4D97-AF65-F5344CB8AC3E}">
        <p14:creationId xmlns:p14="http://schemas.microsoft.com/office/powerpoint/2010/main" val="2423362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F38F2-85E5-2E11-0EB0-1C9AB4397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DAD85-4D77-A12E-A004-B0EE9A4A2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BrowserRouter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3C553-75D8-7927-58DA-97335849D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In a React application: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application loads once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JavaScript controls what is rendered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Navigation changes the visible component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page does not fully reload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is </a:t>
            </a:r>
            <a:r>
              <a:rPr lang="en-US" b="1" dirty="0"/>
              <a:t>client side routing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0606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EC1F1-084A-F978-AD19-FC8928A6B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43AC8-9404-3E45-2BB8-524319B1A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3903"/>
            <a:ext cx="10515600" cy="35786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&lt;Routes&gt;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&lt;Route path="/" element={&lt;Home /&gt;} /&gt;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&lt;Route path="/about" element={&lt;About /&gt;} /&gt;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&lt;/Routes&gt;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Each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Route</a:t>
            </a:r>
            <a:r>
              <a:rPr lang="en-US" dirty="0"/>
              <a:t> maps a </a:t>
            </a:r>
            <a:r>
              <a:rPr lang="en-US" b="1" dirty="0"/>
              <a:t>URL path</a:t>
            </a:r>
            <a:r>
              <a:rPr lang="en-US" dirty="0"/>
              <a:t> to a </a:t>
            </a:r>
            <a:r>
              <a:rPr lang="en-US" b="1" dirty="0"/>
              <a:t>React component</a:t>
            </a:r>
            <a:r>
              <a:rPr lang="en-US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0C6EAF-1DC9-D8B5-DF9A-45643B5CA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Routes and Route</a:t>
            </a:r>
          </a:p>
        </p:txBody>
      </p:sp>
    </p:spTree>
    <p:extLst>
      <p:ext uri="{BB962C8B-B14F-4D97-AF65-F5344CB8AC3E}">
        <p14:creationId xmlns:p14="http://schemas.microsoft.com/office/powerpoint/2010/main" val="765638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364FB-8778-3213-03E2-07B457C37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F36E5-5A3A-B76F-9B16-E0055897F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Routes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F60A1-1B35-18F8-ABA2-B33A5668B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Static routes have fixed paths.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endParaRPr lang="en-US" dirty="0"/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/admin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/contact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No dynamic parameters yet.</a:t>
            </a:r>
          </a:p>
        </p:txBody>
      </p:sp>
    </p:spTree>
    <p:extLst>
      <p:ext uri="{BB962C8B-B14F-4D97-AF65-F5344CB8AC3E}">
        <p14:creationId xmlns:p14="http://schemas.microsoft.com/office/powerpoint/2010/main" val="6280217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49BB5-66C3-BD9B-A70C-B3B0E3966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85B8E-CFB5-5DB8-9F62-98193E27C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Layout Routes</a:t>
            </a:r>
          </a:p>
        </p:txBody>
      </p:sp>
    </p:spTree>
    <p:extLst>
      <p:ext uri="{BB962C8B-B14F-4D97-AF65-F5344CB8AC3E}">
        <p14:creationId xmlns:p14="http://schemas.microsoft.com/office/powerpoint/2010/main" val="3204336034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F4DF5-C5B7-AC2B-CFAC-275099BED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CA10B-6FFF-220E-56FC-BDB9B4349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UI across pages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8A028-59EF-1FDB-C602-31C4B53BD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Most applications share parts of the interface:</a:t>
            </a:r>
          </a:p>
          <a:p>
            <a:endParaRPr lang="en-US" dirty="0"/>
          </a:p>
          <a:p>
            <a:r>
              <a:rPr lang="en-US" dirty="0"/>
              <a:t>header</a:t>
            </a:r>
          </a:p>
          <a:p>
            <a:r>
              <a:rPr lang="en-US" dirty="0"/>
              <a:t>navigation</a:t>
            </a:r>
          </a:p>
          <a:p>
            <a:r>
              <a:rPr lang="en-US" dirty="0"/>
              <a:t>layout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We do not want to duplicate that code in every page.</a:t>
            </a:r>
          </a:p>
        </p:txBody>
      </p:sp>
    </p:spTree>
    <p:extLst>
      <p:ext uri="{BB962C8B-B14F-4D97-AF65-F5344CB8AC3E}">
        <p14:creationId xmlns:p14="http://schemas.microsoft.com/office/powerpoint/2010/main" val="12098296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28D07-9C0A-212F-E672-573F73B89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2DE04-E2AD-DE52-5B46-79560BBFF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Layout Component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028C9-9414-0BD3-EE40-D4B26590A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We place shared UI in a layout component.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Example responsibilities:</a:t>
            </a:r>
          </a:p>
          <a:p>
            <a:endParaRPr lang="en-US" dirty="0"/>
          </a:p>
          <a:p>
            <a:r>
              <a:rPr lang="en-US" dirty="0"/>
              <a:t>page header</a:t>
            </a:r>
          </a:p>
          <a:p>
            <a:r>
              <a:rPr lang="en-US" dirty="0"/>
              <a:t>navigation</a:t>
            </a:r>
          </a:p>
          <a:p>
            <a:r>
              <a:rPr lang="en-US" dirty="0"/>
              <a:t>layout structure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Page specific content appears inside the layout.</a:t>
            </a:r>
          </a:p>
        </p:txBody>
      </p:sp>
    </p:spTree>
    <p:extLst>
      <p:ext uri="{BB962C8B-B14F-4D97-AF65-F5344CB8AC3E}">
        <p14:creationId xmlns:p14="http://schemas.microsoft.com/office/powerpoint/2010/main" val="7623277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E0CB6-4F87-BC2A-3FD5-BCB3A3A2D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0A497-7A31-45E8-D451-B5B7004B4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Outlet </a:t>
            </a:r>
            <a:r>
              <a:rPr lang="en-US" dirty="0"/>
              <a:t>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8FB31-2570-DDEF-B755-77F8CC7DD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Outlet</a:t>
            </a:r>
            <a:r>
              <a:rPr lang="en-US" dirty="0"/>
              <a:t> is where nested routes render.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PageLayout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&lt;Outlet /&gt;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PageLayout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 router decides which component appears in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Outlet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75419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60EF6-F60D-AB05-0961-76FBEEDD4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6170B-548B-D605-7C7E-68B0E9E84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Layout Route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1D385-BEB4-38F4-7B02-1EB6CC6CC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&lt;Route path="/" element={&lt;App /&gt;}&gt;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&lt;Route index element={&lt;Home /&gt;} /&gt;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&lt;Route path="admin" element={&lt;Admin /&gt;} /&gt;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&lt;/Route&gt;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App</a:t>
            </a:r>
            <a:r>
              <a:rPr lang="en-US" dirty="0"/>
              <a:t> acts as the </a:t>
            </a:r>
            <a:r>
              <a:rPr lang="en-US" b="1" dirty="0"/>
              <a:t>router layout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707967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2F2DD-9A5E-1305-B914-1BA0B1E78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E650E-E066-4F92-DADA-E2D769991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Route Rendering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62C13-3BFD-D46E-B82F-F12E0713E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399224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The route structure forms a component tree.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URL: /page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Steps: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Router matches the URL (`/admin`)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layout route (`App`) renders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Shared UI renders (header, layout, navigation)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matching page component renders inside `Outlet`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allows multiple pages to share the same layout while changing only the content area.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662D3C-CB67-8804-1965-6653FF418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66415"/>
            <a:ext cx="7772400" cy="714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0508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1F6F3-B989-7315-DE91-C8358AF4D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934F7-E58B-8CD2-A5B6-DC69A2DDC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Navigation</a:t>
            </a:r>
          </a:p>
        </p:txBody>
      </p:sp>
    </p:spTree>
    <p:extLst>
      <p:ext uri="{BB962C8B-B14F-4D97-AF65-F5344CB8AC3E}">
        <p14:creationId xmlns:p14="http://schemas.microsoft.com/office/powerpoint/2010/main" val="1664216461"/>
      </p:ext>
    </p:extLst>
  </p:cSld>
  <p:clrMapOvr>
    <a:masterClrMapping/>
  </p:clrMapOvr>
  <p:transition spd="med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1187E-DD14-52A7-0E47-CAFFD0EE5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5EA83-7D08-82B5-F7AC-A31E004A8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use normal anchor tags?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C59BF-A00D-25F8-23CF-E3E062698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Using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&lt;a&gt;</a:t>
            </a:r>
            <a:r>
              <a:rPr lang="en-US" dirty="0"/>
              <a:t> causes:</a:t>
            </a:r>
          </a:p>
          <a:p>
            <a:endParaRPr lang="en-US" dirty="0"/>
          </a:p>
          <a:p>
            <a:r>
              <a:rPr lang="en-US" dirty="0"/>
              <a:t>full page reload</a:t>
            </a:r>
          </a:p>
          <a:p>
            <a:r>
              <a:rPr lang="en-US" dirty="0"/>
              <a:t>loss of React state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React Router provides navigation components instead.</a:t>
            </a:r>
          </a:p>
        </p:txBody>
      </p:sp>
    </p:spTree>
    <p:extLst>
      <p:ext uri="{BB962C8B-B14F-4D97-AF65-F5344CB8AC3E}">
        <p14:creationId xmlns:p14="http://schemas.microsoft.com/office/powerpoint/2010/main" val="21494397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E93B7-18A9-FEE8-5A4C-5A0669E18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B5399-64BF-579B-1E54-448DA7215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Link</a:t>
            </a:r>
            <a:r>
              <a:rPr lang="en-US" dirty="0"/>
              <a:t>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60FB1-CF74-EB5E-FF20-513221644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Link</a:t>
            </a:r>
            <a:r>
              <a:rPr lang="en-US" dirty="0"/>
              <a:t> behaves like an anchor tag but keeps navigation inside the React app.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&lt;Link to="/admin"&gt;Admin&lt;/Link&gt;</a:t>
            </a:r>
          </a:p>
        </p:txBody>
      </p:sp>
    </p:spTree>
    <p:extLst>
      <p:ext uri="{BB962C8B-B14F-4D97-AF65-F5344CB8AC3E}">
        <p14:creationId xmlns:p14="http://schemas.microsoft.com/office/powerpoint/2010/main" val="19807394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ED91E-FC35-EFB0-8967-5F9A014D3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2EB52-D6A0-C416-13CB-66C845C0D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NavLink</a:t>
            </a:r>
            <a:r>
              <a:rPr lang="en-US" dirty="0"/>
              <a:t>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D6392-A1CB-864F-8677-8FE3C5F73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NavLink</a:t>
            </a:r>
            <a:r>
              <a:rPr lang="en-US" dirty="0"/>
              <a:t> is similar to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Link</a:t>
            </a:r>
            <a:r>
              <a:rPr lang="en-US" dirty="0"/>
              <a:t>, but it knows when the current route is active.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This allows us to change styling for the active page.</a:t>
            </a:r>
          </a:p>
        </p:txBody>
      </p:sp>
    </p:spTree>
    <p:extLst>
      <p:ext uri="{BB962C8B-B14F-4D97-AF65-F5344CB8AC3E}">
        <p14:creationId xmlns:p14="http://schemas.microsoft.com/office/powerpoint/2010/main" val="4753864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D8C6C-FD4C-F154-B85F-9CF967EAD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23AD4-AF0C-5290-8887-680D0172F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r>
              <a:rPr lang="en-US" dirty="0" err="1"/>
              <a:t>NavLink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A444A-218F-8F01-B256-3426527E6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NavLink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to="/some-page"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className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={({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isActive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}) =&gt;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isActive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? "active classes" : "inactive classes"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Some Page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NavLink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isActive</a:t>
            </a:r>
            <a:r>
              <a:rPr lang="en-US" dirty="0"/>
              <a:t> tells us if the link matches the current route.</a:t>
            </a:r>
          </a:p>
        </p:txBody>
      </p:sp>
    </p:spTree>
    <p:extLst>
      <p:ext uri="{BB962C8B-B14F-4D97-AF65-F5344CB8AC3E}">
        <p14:creationId xmlns:p14="http://schemas.microsoft.com/office/powerpoint/2010/main" val="42215862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E497-0B96-A988-B0F7-8671A8753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D4F01-BCF7-C81D-4DF6-ED373D11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Hands-on Practice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A23C2-1004-2B1E-AEF1-B53F9E21E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dirty="0"/>
              <a:t>Exercise: Update the existing walkthrough project with two pages accessible using client-side routing: / and admin routes.</a:t>
            </a:r>
          </a:p>
          <a:p>
            <a:pPr marL="0" indent="0">
              <a:buNone/>
            </a:pPr>
            <a:r>
              <a:rPr lang="en-CA" b="1" dirty="0"/>
              <a:t>Objective: </a:t>
            </a:r>
            <a:r>
              <a:rPr lang="en-CA" dirty="0"/>
              <a:t>Implement client-side routing in an SPA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Obtain the exercise starter files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Create install the necessary package.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Create the pages for the application.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Implement routing to access the pages.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Ask questions if you are unsure of what to do or how the code works.</a:t>
            </a:r>
          </a:p>
          <a:p>
            <a:pPr marL="971527" lvl="1" indent="-514350">
              <a:buFont typeface="+mj-lt"/>
              <a:buAutoNum type="arabicPeriod"/>
            </a:pP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8885256"/>
      </p:ext>
    </p:extLst>
  </p:cSld>
  <p:clrMapOvr>
    <a:masterClrMapping/>
  </p:clrMapOvr>
  <p:transition spd="med">
    <p:pull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1D267-295B-8BC6-526B-F7AF72936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88993-A1E9-DD98-6466-3FA55B3B8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Quick Poll</a:t>
            </a:r>
          </a:p>
        </p:txBody>
      </p:sp>
    </p:spTree>
    <p:extLst>
      <p:ext uri="{BB962C8B-B14F-4D97-AF65-F5344CB8AC3E}">
        <p14:creationId xmlns:p14="http://schemas.microsoft.com/office/powerpoint/2010/main" val="412320587"/>
      </p:ext>
    </p:extLst>
  </p:cSld>
  <p:clrMapOvr>
    <a:masterClrMapping/>
  </p:clrMapOvr>
  <p:transition spd="med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9F378-947C-7BA3-AFE0-EFB3BB840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65DB5-5309-A725-8C04-D7ACAF334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component determines where nested route content renders?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51A40-7173-1A79-5623-9E424F676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dirty="0"/>
              <a:t>Route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err="1"/>
              <a:t>BrowserRouter</a:t>
            </a: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Outlet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err="1"/>
              <a:t>NavLink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9635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7F87A-EC3B-6F87-073F-5EA32E94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FA4A7-5289-6F66-D4CE-FCD9F7DE8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this lesson, we covered the following: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Configure React Router 7 in a React application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Define static routes using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BrowserRoutes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Routes</a:t>
            </a:r>
            <a:r>
              <a:rPr lang="en-US" dirty="0"/>
              <a:t>,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Route</a:t>
            </a:r>
            <a:endParaRPr lang="en-US" dirty="0"/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Use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Link</a:t>
            </a:r>
            <a:r>
              <a:rPr lang="en-US" dirty="0"/>
              <a:t> and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NavLink</a:t>
            </a:r>
            <a:r>
              <a:rPr lang="en-US" dirty="0"/>
              <a:t> for navigation 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Implement a layout route using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Outlet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514373" indent="-514350"/>
            <a:r>
              <a:rPr lang="en-CA" dirty="0"/>
              <a:t>Complete lesson 17 checklist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7582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17D3-7614-08E1-2AAC-01DF58360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3BE39-AE9E-C416-EC64-744B7883B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Explain: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problem routing solves in a React app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Outlet</a:t>
            </a:r>
            <a:r>
              <a:rPr lang="en-US" dirty="0"/>
              <a:t> does in a layout route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difference between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Link</a:t>
            </a:r>
            <a:r>
              <a:rPr lang="en-US" dirty="0"/>
              <a:t> and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NavLink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093830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Day N - PPT 1">
  <a:themeElements>
    <a:clrScheme name="NAIT 2020">
      <a:dk1>
        <a:sysClr val="windowText" lastClr="000000"/>
      </a:dk1>
      <a:lt1>
        <a:sysClr val="window" lastClr="FFFFFF"/>
      </a:lt1>
      <a:dk2>
        <a:srgbClr val="63666A"/>
      </a:dk2>
      <a:lt2>
        <a:srgbClr val="F2F2F2"/>
      </a:lt2>
      <a:accent1>
        <a:srgbClr val="002D74"/>
      </a:accent1>
      <a:accent2>
        <a:srgbClr val="00A0DF"/>
      </a:accent2>
      <a:accent3>
        <a:srgbClr val="005CB9"/>
      </a:accent3>
      <a:accent4>
        <a:srgbClr val="2AD2C9"/>
      </a:accent4>
      <a:accent5>
        <a:srgbClr val="97D700"/>
      </a:accent5>
      <a:accent6>
        <a:srgbClr val="F2A900"/>
      </a:accent6>
      <a:hlink>
        <a:srgbClr val="00AEFF"/>
      </a:hlink>
      <a:folHlink>
        <a:srgbClr val="981D9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IT PPT TEMPLATE" id="{48C832B7-36DA-FF42-A033-DC69DF6E754B}" vid="{12E7E523-AC5B-2043-BD48-32C2D6EE82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Day N - PPT 1</Template>
  <TotalTime>16930</TotalTime>
  <Words>826</Words>
  <Application>Microsoft Macintosh PowerPoint</Application>
  <PresentationFormat>Widescreen</PresentationFormat>
  <Paragraphs>203</Paragraphs>
  <Slides>31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Aptos</vt:lpstr>
      <vt:lpstr>Arial</vt:lpstr>
      <vt:lpstr>Consolas</vt:lpstr>
      <vt:lpstr>Day N - PPT 1</vt:lpstr>
      <vt:lpstr>SDEV2150</vt:lpstr>
      <vt:lpstr>Lesson Objectives</vt:lpstr>
      <vt:lpstr>Agenda</vt:lpstr>
      <vt:lpstr>Connecting</vt:lpstr>
      <vt:lpstr>How traditional web navigation works</vt:lpstr>
      <vt:lpstr>How React applications navigate</vt:lpstr>
      <vt:lpstr>Duplicated state leads to inconsistency</vt:lpstr>
      <vt:lpstr>Why routing matters</vt:lpstr>
      <vt:lpstr>PowerPoint Presentation</vt:lpstr>
      <vt:lpstr>React Router Basics</vt:lpstr>
      <vt:lpstr>Installing React Router</vt:lpstr>
      <vt:lpstr>Core Router Components</vt:lpstr>
      <vt:lpstr>BrowserRouter</vt:lpstr>
      <vt:lpstr>Routes and Route</vt:lpstr>
      <vt:lpstr>Static Routes</vt:lpstr>
      <vt:lpstr>Layout Routes</vt:lpstr>
      <vt:lpstr>Shared UI across pages</vt:lpstr>
      <vt:lpstr>Layout Component Pattern</vt:lpstr>
      <vt:lpstr>The Outlet Component</vt:lpstr>
      <vt:lpstr>Layout Route Structure</vt:lpstr>
      <vt:lpstr>Nested Route Rendering</vt:lpstr>
      <vt:lpstr>Navigation</vt:lpstr>
      <vt:lpstr>Why not use normal anchor tags?</vt:lpstr>
      <vt:lpstr>The Link Component</vt:lpstr>
      <vt:lpstr>The NavLink Component</vt:lpstr>
      <vt:lpstr>Example NavLink</vt:lpstr>
      <vt:lpstr>Hands-on Practice</vt:lpstr>
      <vt:lpstr>Quick Poll</vt:lpstr>
      <vt:lpstr>Which component determines where nested route content renders?</vt:lpstr>
      <vt:lpstr>Lesson Summary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Humphrey</dc:creator>
  <cp:lastModifiedBy>Nathan Humphrey</cp:lastModifiedBy>
  <cp:revision>220</cp:revision>
  <dcterms:created xsi:type="dcterms:W3CDTF">2025-05-09T22:20:28Z</dcterms:created>
  <dcterms:modified xsi:type="dcterms:W3CDTF">2026-03-10T15:47:21Z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2025-05-09T22:21:39Z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ea09c963-5839-457c-a351-7e2868c7baef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
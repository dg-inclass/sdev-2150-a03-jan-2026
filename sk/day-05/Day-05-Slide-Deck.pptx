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08" r:id="rId9"/>
    <p:sldId id="301" r:id="rId10"/>
    <p:sldId id="309" r:id="rId11"/>
    <p:sldId id="302" r:id="rId12"/>
    <p:sldId id="310" r:id="rId13"/>
    <p:sldId id="304" r:id="rId14"/>
    <p:sldId id="323" r:id="rId15"/>
    <p:sldId id="324" r:id="rId16"/>
    <p:sldId id="325" r:id="rId17"/>
    <p:sldId id="326" r:id="rId18"/>
    <p:sldId id="332" r:id="rId19"/>
    <p:sldId id="331" r:id="rId20"/>
    <p:sldId id="327" r:id="rId21"/>
    <p:sldId id="328" r:id="rId22"/>
    <p:sldId id="333" r:id="rId23"/>
    <p:sldId id="329" r:id="rId24"/>
    <p:sldId id="330" r:id="rId25"/>
    <p:sldId id="311" r:id="rId26"/>
    <p:sldId id="305" r:id="rId27"/>
    <p:sldId id="295" r:id="rId28"/>
    <p:sldId id="258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56"/>
    <p:restoredTop sz="94679"/>
  </p:normalViewPr>
  <p:slideViewPr>
    <p:cSldViewPr snapToGrid="0">
      <p:cViewPr varScale="1">
        <p:scale>
          <a:sx n="116" d="100"/>
          <a:sy n="116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EE06-EC41-2887-B8ED-376F549D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5B921-CA69-E45C-3AD2-5213B2EE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B9419-CAC7-64D7-6265-A9D5A30E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4FC-9DDD-7E08-4052-EF94133C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97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AD3C-FADE-36D0-9862-EB1163B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1821E-663C-E0C1-64B7-8D2AAAD4D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F94A-11EC-BA07-6F22-BA7642B9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CBB5-5674-97AD-0CB0-5451BC677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509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95FE-028A-44DE-35F6-B39A8E93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FD383-7670-3BEA-08AD-9FB7AB43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ECF45-17CA-AC2D-D210-3D0C3375B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32F1-6778-3FAA-BE7D-E4E57A6F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157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6454-6061-F357-9A79-A235CBCA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C7E6-AE60-BAF4-D218-0D9624C80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2AE27-F403-D77B-1CE4-1922ABECF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BA9CF-8B6E-BF81-CF20-16148B84F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4615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2B85-E456-CBE6-7C55-660A2174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34AFA-556F-F79B-CB7A-6940FF79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BAB81-60F1-D48B-534D-04B373253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83899-E4DD-3133-BD8E-89E713ED6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594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05: Asynchronous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how JavaScript handles asynchronous operations</a:t>
            </a:r>
          </a:p>
          <a:p>
            <a:pPr marL="971550" lvl="1" indent="-514350"/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</a:t>
            </a:r>
            <a:r>
              <a:rPr lang="en-US" dirty="0"/>
              <a:t>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dirty="0"/>
              <a:t> / await to load data</a:t>
            </a:r>
          </a:p>
          <a:p>
            <a:pPr marL="971550" lvl="1" indent="-514350"/>
            <a:r>
              <a:rPr lang="en-US" dirty="0"/>
              <a:t>Describe how async data flows through an application</a:t>
            </a:r>
          </a:p>
          <a:p>
            <a:pPr marL="971550" lvl="1" indent="-514350"/>
            <a:r>
              <a:rPr lang="en-US" dirty="0"/>
              <a:t>Compare two approaches to coordinating fetched data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synchronous vs asynchronous execution</a:t>
            </a:r>
          </a:p>
          <a:p>
            <a:r>
              <a:rPr lang="en-US" dirty="0"/>
              <a:t>Review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</a:t>
            </a:r>
            <a:r>
              <a:rPr lang="en-US" dirty="0"/>
              <a:t> and async data loading</a:t>
            </a:r>
          </a:p>
          <a:p>
            <a:r>
              <a:rPr lang="en-US" dirty="0"/>
              <a:t>Instructor demo</a:t>
            </a:r>
          </a:p>
          <a:p>
            <a:r>
              <a:rPr lang="en-US" dirty="0"/>
              <a:t>Refactor: component-driven fetching</a:t>
            </a:r>
          </a:p>
          <a:p>
            <a:r>
              <a:rPr lang="en-US" dirty="0"/>
              <a:t>Practice and reflection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async matters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Building on Lesson 02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requests take time</a:t>
            </a:r>
          </a:p>
          <a:p>
            <a:r>
              <a:rPr lang="en-US" dirty="0"/>
              <a:t>JavaScript must stay responsive</a:t>
            </a:r>
          </a:p>
          <a:p>
            <a:r>
              <a:rPr lang="en-US" dirty="0"/>
              <a:t>Data often arrives </a:t>
            </a:r>
            <a:r>
              <a:rPr lang="en-US" i="1" dirty="0"/>
              <a:t>after</a:t>
            </a:r>
            <a:r>
              <a:rPr lang="en-US" dirty="0"/>
              <a:t> UI renders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Async code lets the app keep moving.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Mental Model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does not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operations move off the call stack</a:t>
            </a:r>
          </a:p>
          <a:p>
            <a:r>
              <a:rPr lang="en-US" dirty="0"/>
              <a:t>Results come back later</a:t>
            </a:r>
          </a:p>
          <a:p>
            <a:r>
              <a:rPr lang="en-US" dirty="0"/>
              <a:t>Code reacts when data arrives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lesson focuses on </a:t>
            </a:r>
            <a:r>
              <a:rPr lang="en-US" i="1" dirty="0"/>
              <a:t>reacting to data over 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Stage 1: Fetch COORDINATION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simple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Application loads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The app container/shell fetches 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Data is passed into components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Everything is explicit and easy to trace.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Fetching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fetch with async/await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response = await fetch(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data = await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response.json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Await pauses this function</a:t>
            </a:r>
          </a:p>
          <a:p>
            <a:r>
              <a:rPr lang="en-CA" dirty="0"/>
              <a:t>The app keeps running</a:t>
            </a:r>
          </a:p>
          <a:p>
            <a:r>
              <a:rPr lang="en-CA" dirty="0"/>
              <a:t>Data arrives later</a:t>
            </a:r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Coordinating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shell as coordinator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Owns the fetch</a:t>
            </a:r>
          </a:p>
          <a:p>
            <a:r>
              <a:rPr lang="en-US" dirty="0"/>
              <a:t>Handles success and failure</a:t>
            </a:r>
          </a:p>
          <a:p>
            <a:r>
              <a:rPr lang="en-US" dirty="0"/>
              <a:t>Pushes data into components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Components stay focused on rendering.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3A23-E8EF-8998-4BCB-7D3D2FD4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089A-B2A5-EF23-AFB8-AE7917F5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Async States</a:t>
            </a:r>
          </a:p>
        </p:txBody>
      </p:sp>
    </p:spTree>
    <p:extLst>
      <p:ext uri="{BB962C8B-B14F-4D97-AF65-F5344CB8AC3E}">
        <p14:creationId xmlns:p14="http://schemas.microsoft.com/office/powerpoint/2010/main" val="198617843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E877-0EA3-695E-C85E-0732EE5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C32-BC89-CE84-1701-B2335D5D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we're not solving yet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BF19-AB39-BE49-8C7C-3A29B186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Loading indicators</a:t>
            </a:r>
          </a:p>
          <a:p>
            <a:r>
              <a:rPr lang="en-US" dirty="0"/>
              <a:t>Error messages</a:t>
            </a:r>
          </a:p>
          <a:p>
            <a:r>
              <a:rPr lang="en-US" dirty="0"/>
              <a:t>Retry logic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note these now and add them later.</a:t>
            </a:r>
          </a:p>
        </p:txBody>
      </p:sp>
    </p:spTree>
    <p:extLst>
      <p:ext uri="{BB962C8B-B14F-4D97-AF65-F5344CB8AC3E}">
        <p14:creationId xmlns:p14="http://schemas.microsoft.com/office/powerpoint/2010/main" val="1466043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B298-8217-C169-8161-DF41324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014-C30C-F16A-8EF8-01B4CC4F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Stage 2: Component Fetching</a:t>
            </a:r>
          </a:p>
        </p:txBody>
      </p:sp>
    </p:spTree>
    <p:extLst>
      <p:ext uri="{BB962C8B-B14F-4D97-AF65-F5344CB8AC3E}">
        <p14:creationId xmlns:p14="http://schemas.microsoft.com/office/powerpoint/2010/main" val="3583935102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B6-0F1F-328B-252A-75A46C4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C8C-D6C9-F221-FD85-1099921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components reusable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C555-A632-BF7A-8E14-01394811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Instead of fetching in the app shell (e.g., </a:t>
            </a:r>
            <a:r>
              <a:rPr lang="en-US" dirty="0" err="1"/>
              <a:t>index.js</a:t>
            </a:r>
            <a:r>
              <a:rPr lang="en-US" dirty="0"/>
              <a:t> or </a:t>
            </a:r>
            <a:r>
              <a:rPr lang="en-US" dirty="0" err="1"/>
              <a:t>main.js</a:t>
            </a:r>
            <a:r>
              <a:rPr lang="en-US" dirty="0"/>
              <a:t>), we let the component load its own data.</a:t>
            </a:r>
          </a:p>
        </p:txBody>
      </p:sp>
    </p:spTree>
    <p:extLst>
      <p:ext uri="{BB962C8B-B14F-4D97-AF65-F5344CB8AC3E}">
        <p14:creationId xmlns:p14="http://schemas.microsoft.com/office/powerpoint/2010/main" val="4095847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04D3-F223-9EF4-EA4B-2E471919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4681-FBA1-4ED3-F886-DE9C12BA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Passing the endpoint</a:t>
            </a:r>
          </a:p>
        </p:txBody>
      </p:sp>
    </p:spTree>
    <p:extLst>
      <p:ext uri="{BB962C8B-B14F-4D97-AF65-F5344CB8AC3E}">
        <p14:creationId xmlns:p14="http://schemas.microsoft.com/office/powerpoint/2010/main" val="939329546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B49-A8F9-9C38-2146-F342BD2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Attribute-driven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2C82-E7BD-14D4-6BE0-E8D72E4F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&lt;component attribute="http://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-to-some/data"&gt;&lt;/component&gt;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CA" dirty="0"/>
              <a:t>Attribute defines </a:t>
            </a:r>
            <a:r>
              <a:rPr lang="en-CA" i="1" dirty="0"/>
              <a:t>where data comes from</a:t>
            </a:r>
          </a:p>
          <a:p>
            <a:r>
              <a:rPr lang="en-CA" dirty="0"/>
              <a:t>Component decides </a:t>
            </a:r>
            <a:r>
              <a:rPr lang="en-CA" i="1" dirty="0"/>
              <a:t>how to fetch and render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6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F10A-3413-5955-1DFF-FF78E5EA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C94C-2C89-8319-62B9-8E1CDD2A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Reactive Attribute Changes</a:t>
            </a:r>
          </a:p>
        </p:txBody>
      </p:sp>
    </p:spTree>
    <p:extLst>
      <p:ext uri="{BB962C8B-B14F-4D97-AF65-F5344CB8AC3E}">
        <p14:creationId xmlns:p14="http://schemas.microsoft.com/office/powerpoint/2010/main" val="219438028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7A56-E69F-8A76-00BB-F016D8FD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5824-0EC3-3FC2-8C3C-D7CF81D1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reactive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C56A-E6E1-1EF1-BC3B-7DD26C741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 changes</a:t>
            </a:r>
          </a:p>
          <a:p>
            <a:r>
              <a:rPr lang="en-US" dirty="0"/>
              <a:t>Async side effect runs</a:t>
            </a:r>
          </a:p>
          <a:p>
            <a:r>
              <a:rPr lang="en-US" dirty="0"/>
              <a:t>Component updates state</a:t>
            </a:r>
          </a:p>
          <a:p>
            <a:r>
              <a:rPr lang="en-US" dirty="0"/>
              <a:t>UI re-renders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mirrors how frameworks behave.</a:t>
            </a:r>
          </a:p>
        </p:txBody>
      </p:sp>
    </p:spTree>
    <p:extLst>
      <p:ext uri="{BB962C8B-B14F-4D97-AF65-F5344CB8AC3E}">
        <p14:creationId xmlns:p14="http://schemas.microsoft.com/office/powerpoint/2010/main" val="4070180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7C98A3A-671D-7495-92F2-FEA080BB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/>
          <a:lstStyle/>
          <a:p>
            <a:r>
              <a:rPr lang="en-US" dirty="0"/>
              <a:t>Sync vs. Async</a:t>
            </a: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0DA7DF43-C448-C79F-872B-266A3615A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189" y="1443210"/>
            <a:ext cx="6928283" cy="4416780"/>
          </a:xfrm>
          <a:noFill/>
        </p:spPr>
      </p:pic>
    </p:spTree>
    <p:extLst>
      <p:ext uri="{BB962C8B-B14F-4D97-AF65-F5344CB8AC3E}">
        <p14:creationId xmlns:p14="http://schemas.microsoft.com/office/powerpoint/2010/main" val="661106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DB56-A78F-4F5C-E4C8-B1B44447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FD2B-49AF-C334-ED2C-50BBE926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Comparing the Approaches</a:t>
            </a:r>
          </a:p>
        </p:txBody>
      </p:sp>
    </p:spTree>
    <p:extLst>
      <p:ext uri="{BB962C8B-B14F-4D97-AF65-F5344CB8AC3E}">
        <p14:creationId xmlns:p14="http://schemas.microsoft.com/office/powerpoint/2010/main" val="600587390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DAA3-4126-717B-9F21-91CA02A8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348F-8787-6180-7CC4-D345E93C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4648199" cy="1325563"/>
          </a:xfrm>
        </p:spPr>
        <p:txBody>
          <a:bodyPr>
            <a:normAutofit/>
          </a:bodyPr>
          <a:lstStyle/>
          <a:p>
            <a:r>
              <a:rPr lang="en-US" sz="2800" dirty="0"/>
              <a:t>Fetch in app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7D24-CCAF-451A-D18F-D0D2830DD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3686901"/>
          </a:xfrm>
        </p:spPr>
        <p:txBody>
          <a:bodyPr>
            <a:normAutofit/>
          </a:bodyPr>
          <a:lstStyle/>
          <a:p>
            <a:r>
              <a:rPr lang="en-US" dirty="0"/>
              <a:t>Clear and explicit</a:t>
            </a:r>
          </a:p>
          <a:p>
            <a:r>
              <a:rPr lang="en-US" dirty="0"/>
              <a:t>Easy to debug</a:t>
            </a:r>
          </a:p>
          <a:p>
            <a:r>
              <a:rPr lang="en-US" dirty="0"/>
              <a:t>Centralized coordination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app shell can grow quickly.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9219D6-36C5-0654-F4F0-6B2AD8C1654C}"/>
              </a:ext>
            </a:extLst>
          </p:cNvPr>
          <p:cNvSpPr txBox="1">
            <a:spLocks/>
          </p:cNvSpPr>
          <p:nvPr/>
        </p:nvSpPr>
        <p:spPr>
          <a:xfrm>
            <a:off x="6096000" y="365126"/>
            <a:ext cx="46481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Fetch in the component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4D3D16-0573-1025-7E25-4545624C7108}"/>
              </a:ext>
            </a:extLst>
          </p:cNvPr>
          <p:cNvSpPr txBox="1">
            <a:spLocks/>
          </p:cNvSpPr>
          <p:nvPr/>
        </p:nvSpPr>
        <p:spPr>
          <a:xfrm>
            <a:off x="6096001" y="1825625"/>
            <a:ext cx="4648200" cy="3686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Reusable and portable</a:t>
            </a:r>
          </a:p>
          <a:p>
            <a:r>
              <a:rPr lang="en-US" dirty="0"/>
              <a:t>Encapsulated async logic</a:t>
            </a:r>
          </a:p>
          <a:p>
            <a:r>
              <a:rPr lang="en-US" dirty="0"/>
              <a:t>Cleaner app bootstrap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But more complex component code.</a:t>
            </a:r>
          </a:p>
        </p:txBody>
      </p:sp>
    </p:spTree>
    <p:extLst>
      <p:ext uri="{BB962C8B-B14F-4D97-AF65-F5344CB8AC3E}">
        <p14:creationId xmlns:p14="http://schemas.microsoft.com/office/powerpoint/2010/main" val="2135768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Real-World Perspective</a:t>
            </a:r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You'll see both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 shells fetching data</a:t>
            </a:r>
          </a:p>
          <a:p>
            <a:r>
              <a:rPr lang="en-US" dirty="0"/>
              <a:t>Components loading their own resources</a:t>
            </a:r>
          </a:p>
          <a:p>
            <a:r>
              <a:rPr lang="en-US" dirty="0"/>
              <a:t>Shared data services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best choice depends on </a:t>
            </a:r>
            <a:r>
              <a:rPr lang="en-US" i="1" dirty="0"/>
              <a:t>context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Exercise: Update an existing component-based app load asynchronous data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fetch API to retrieve and display dynamic data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Fetch resources from the backend API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Render results when data arrives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Keep filtering and selection working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how JavaScript handles asynchronous operations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fetch with async / await to load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async data flows through an application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Compare two approaches to coordinating fetched data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73" indent="-514350"/>
            <a:r>
              <a:rPr lang="en-CA" dirty="0"/>
              <a:t>Complete lesson 5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“Where does async work actually happen?”</a:t>
            </a:r>
          </a:p>
          <a:p>
            <a:r>
              <a:rPr lang="en-US" dirty="0"/>
              <a:t>“When would you fetch in a component instead of the app shell?”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16668</TotalTime>
  <Words>539</Words>
  <Application>Microsoft Macintosh PowerPoint</Application>
  <PresentationFormat>Widescreen</PresentationFormat>
  <Paragraphs>128</Paragraphs>
  <Slides>29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Why async matters</vt:lpstr>
      <vt:lpstr>Building on Lesson 02</vt:lpstr>
      <vt:lpstr>Mental Model</vt:lpstr>
      <vt:lpstr>JavaScript does not block</vt:lpstr>
      <vt:lpstr>Stage 1: Fetch COORDINATION</vt:lpstr>
      <vt:lpstr>Starting simple</vt:lpstr>
      <vt:lpstr>Fetching Data</vt:lpstr>
      <vt:lpstr>Using fetch with async/await</vt:lpstr>
      <vt:lpstr>Coordinating Data</vt:lpstr>
      <vt:lpstr>App shell as coordinator</vt:lpstr>
      <vt:lpstr>Async States</vt:lpstr>
      <vt:lpstr>What we're not solving yet</vt:lpstr>
      <vt:lpstr>Stage 2: Component Fetching</vt:lpstr>
      <vt:lpstr>Making components reusable</vt:lpstr>
      <vt:lpstr>Passing the endpoint</vt:lpstr>
      <vt:lpstr>Attribute-driven data</vt:lpstr>
      <vt:lpstr>Reactive Attribute Changes</vt:lpstr>
      <vt:lpstr>A new reactive pattern</vt:lpstr>
      <vt:lpstr>Sync vs. Async</vt:lpstr>
      <vt:lpstr>Comparing the Approaches</vt:lpstr>
      <vt:lpstr>Fetch in app shell</vt:lpstr>
      <vt:lpstr>Real-World Perspective</vt:lpstr>
      <vt:lpstr>You'll see both patterns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71</cp:revision>
  <dcterms:created xsi:type="dcterms:W3CDTF">2025-05-09T22:20:28Z</dcterms:created>
  <dcterms:modified xsi:type="dcterms:W3CDTF">2026-01-23T01:00:00Z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
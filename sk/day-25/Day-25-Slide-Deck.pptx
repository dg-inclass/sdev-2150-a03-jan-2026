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7"/>
  </p:notesMasterIdLst>
  <p:sldIdLst>
    <p:sldId id="256" r:id="rId2"/>
    <p:sldId id="257" r:id="rId3"/>
    <p:sldId id="282" r:id="rId4"/>
    <p:sldId id="306" r:id="rId5"/>
    <p:sldId id="322" r:id="rId6"/>
    <p:sldId id="371" r:id="rId7"/>
    <p:sldId id="393" r:id="rId8"/>
    <p:sldId id="307" r:id="rId9"/>
    <p:sldId id="372" r:id="rId10"/>
    <p:sldId id="303" r:id="rId11"/>
    <p:sldId id="374" r:id="rId12"/>
    <p:sldId id="343" r:id="rId13"/>
    <p:sldId id="375" r:id="rId14"/>
    <p:sldId id="376" r:id="rId15"/>
    <p:sldId id="334" r:id="rId16"/>
    <p:sldId id="377" r:id="rId17"/>
    <p:sldId id="384" r:id="rId18"/>
    <p:sldId id="378" r:id="rId19"/>
    <p:sldId id="337" r:id="rId20"/>
    <p:sldId id="354" r:id="rId21"/>
    <p:sldId id="360" r:id="rId22"/>
    <p:sldId id="339" r:id="rId23"/>
    <p:sldId id="385" r:id="rId24"/>
    <p:sldId id="362" r:id="rId25"/>
    <p:sldId id="386" r:id="rId26"/>
    <p:sldId id="340" r:id="rId27"/>
    <p:sldId id="387" r:id="rId28"/>
    <p:sldId id="363" r:id="rId29"/>
    <p:sldId id="364" r:id="rId30"/>
    <p:sldId id="383" r:id="rId31"/>
    <p:sldId id="295" r:id="rId32"/>
    <p:sldId id="352" r:id="rId33"/>
    <p:sldId id="353" r:id="rId34"/>
    <p:sldId id="258" r:id="rId35"/>
    <p:sldId id="28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94"/>
    <p:restoredTop sz="94679"/>
  </p:normalViewPr>
  <p:slideViewPr>
    <p:cSldViewPr snapToGrid="0">
      <p:cViewPr varScale="1">
        <p:scale>
          <a:sx n="121" d="100"/>
          <a:sy n="121" d="100"/>
        </p:scale>
        <p:origin x="3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411B5-A9B8-6D4E-A83B-91456309AD37}" type="datetimeFigureOut">
              <a:rPr lang="en-US" smtClean="0"/>
              <a:t>4/6/26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114E8-53D3-EB43-8A56-360BB7DBBFD6}" type="slidenum">
              <a:rPr lang="en-US" smtClean="0"/>
              <a:t>‹#›</a:t>
            </a:fld>
            <a:endParaRPr lang="en-US"/>
          </a:p>
        </p:txBody>
      </p:sp>
    </p:spTree>
    <p:extLst>
      <p:ext uri="{BB962C8B-B14F-4D97-AF65-F5344CB8AC3E}">
        <p14:creationId xmlns:p14="http://schemas.microsoft.com/office/powerpoint/2010/main" val="1695718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BAB49-A5B2-6384-E3DF-547F4B224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33F74-9E95-3FF6-D454-C8FE8B02C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A9C78-3715-9929-CCA0-CC917FE0A3D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76A795B-34AA-88EC-21E0-9B502A3D23AD}"/>
              </a:ext>
            </a:extLst>
          </p:cNvPr>
          <p:cNvSpPr>
            <a:spLocks noGrp="1"/>
          </p:cNvSpPr>
          <p:nvPr>
            <p:ph type="sldNum" sz="quarter" idx="5"/>
          </p:nvPr>
        </p:nvSpPr>
        <p:spPr/>
        <p:txBody>
          <a:bodyPr/>
          <a:lstStyle/>
          <a:p>
            <a:fld id="{CFE641A9-FDE3-4583-B812-65C4064188F6}" type="slidenum">
              <a:rPr lang="en-CA" smtClean="0"/>
              <a:t>4</a:t>
            </a:fld>
            <a:endParaRPr lang="en-CA"/>
          </a:p>
        </p:txBody>
      </p:sp>
    </p:spTree>
    <p:extLst>
      <p:ext uri="{BB962C8B-B14F-4D97-AF65-F5344CB8AC3E}">
        <p14:creationId xmlns:p14="http://schemas.microsoft.com/office/powerpoint/2010/main" val="1242019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C1B27-2AC3-687F-17B8-760C59F1F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33A79-D1B1-1F5C-EEF5-578504509A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4A97B-D8F8-4C45-E58C-57115F94740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3315220-2AE2-A6FC-8F7F-808067A00FE2}"/>
              </a:ext>
            </a:extLst>
          </p:cNvPr>
          <p:cNvSpPr>
            <a:spLocks noGrp="1"/>
          </p:cNvSpPr>
          <p:nvPr>
            <p:ph type="sldNum" sz="quarter" idx="5"/>
          </p:nvPr>
        </p:nvSpPr>
        <p:spPr/>
        <p:txBody>
          <a:bodyPr/>
          <a:lstStyle/>
          <a:p>
            <a:fld id="{CFE641A9-FDE3-4583-B812-65C4064188F6}" type="slidenum">
              <a:rPr lang="en-CA" smtClean="0"/>
              <a:t>8</a:t>
            </a:fld>
            <a:endParaRPr lang="en-CA"/>
          </a:p>
        </p:txBody>
      </p:sp>
    </p:spTree>
    <p:extLst>
      <p:ext uri="{BB962C8B-B14F-4D97-AF65-F5344CB8AC3E}">
        <p14:creationId xmlns:p14="http://schemas.microsoft.com/office/powerpoint/2010/main" val="3783574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C5F39-B702-5E3F-4599-66728A78D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DF982-2DC4-967A-9312-D6BED68F1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17537-430E-8421-E689-3B8A9D4510A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34BC4A2-AA81-6941-9E84-50899CB54C4A}"/>
              </a:ext>
            </a:extLst>
          </p:cNvPr>
          <p:cNvSpPr>
            <a:spLocks noGrp="1"/>
          </p:cNvSpPr>
          <p:nvPr>
            <p:ph type="sldNum" sz="quarter" idx="5"/>
          </p:nvPr>
        </p:nvSpPr>
        <p:spPr/>
        <p:txBody>
          <a:bodyPr/>
          <a:lstStyle/>
          <a:p>
            <a:fld id="{CFE641A9-FDE3-4583-B812-65C4064188F6}" type="slidenum">
              <a:rPr lang="en-CA" smtClean="0"/>
              <a:t>12</a:t>
            </a:fld>
            <a:endParaRPr lang="en-CA"/>
          </a:p>
        </p:txBody>
      </p:sp>
    </p:spTree>
    <p:extLst>
      <p:ext uri="{BB962C8B-B14F-4D97-AF65-F5344CB8AC3E}">
        <p14:creationId xmlns:p14="http://schemas.microsoft.com/office/powerpoint/2010/main" val="135929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B8AA7-95E9-3549-30F3-2B533AA02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B8752-C939-E0A6-D433-09EC25351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AE5380-5FAF-1495-42D4-FB958EF0A21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0BC8A2B-F13F-2168-981D-62E0E4A03639}"/>
              </a:ext>
            </a:extLst>
          </p:cNvPr>
          <p:cNvSpPr>
            <a:spLocks noGrp="1"/>
          </p:cNvSpPr>
          <p:nvPr>
            <p:ph type="sldNum" sz="quarter" idx="5"/>
          </p:nvPr>
        </p:nvSpPr>
        <p:spPr/>
        <p:txBody>
          <a:bodyPr/>
          <a:lstStyle/>
          <a:p>
            <a:fld id="{CFE641A9-FDE3-4583-B812-65C4064188F6}" type="slidenum">
              <a:rPr lang="en-CA" smtClean="0"/>
              <a:t>15</a:t>
            </a:fld>
            <a:endParaRPr lang="en-CA"/>
          </a:p>
        </p:txBody>
      </p:sp>
    </p:spTree>
    <p:extLst>
      <p:ext uri="{BB962C8B-B14F-4D97-AF65-F5344CB8AC3E}">
        <p14:creationId xmlns:p14="http://schemas.microsoft.com/office/powerpoint/2010/main" val="4090665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1F8B4-C819-6EB0-F2CD-C9EBF364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64FD0-F6C0-FEA2-4C37-1D9EB0F1B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BB1CB-F598-1519-2EB9-EAC15159A9E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8CECBDE-8462-E6F0-EC57-3A870021B880}"/>
              </a:ext>
            </a:extLst>
          </p:cNvPr>
          <p:cNvSpPr>
            <a:spLocks noGrp="1"/>
          </p:cNvSpPr>
          <p:nvPr>
            <p:ph type="sldNum" sz="quarter" idx="5"/>
          </p:nvPr>
        </p:nvSpPr>
        <p:spPr/>
        <p:txBody>
          <a:bodyPr/>
          <a:lstStyle/>
          <a:p>
            <a:fld id="{CFE641A9-FDE3-4583-B812-65C4064188F6}" type="slidenum">
              <a:rPr lang="en-CA" smtClean="0"/>
              <a:t>17</a:t>
            </a:fld>
            <a:endParaRPr lang="en-CA"/>
          </a:p>
        </p:txBody>
      </p:sp>
    </p:spTree>
    <p:extLst>
      <p:ext uri="{BB962C8B-B14F-4D97-AF65-F5344CB8AC3E}">
        <p14:creationId xmlns:p14="http://schemas.microsoft.com/office/powerpoint/2010/main" val="4063361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D1B62-3F49-4272-CF02-C1A3F1130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41A5A-EDED-1DCD-2543-9B6A53991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C3407-2F0F-BB76-D1C2-68596B12140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6CDABC7-ADCB-A3AF-AC42-782565662ADD}"/>
              </a:ext>
            </a:extLst>
          </p:cNvPr>
          <p:cNvSpPr>
            <a:spLocks noGrp="1"/>
          </p:cNvSpPr>
          <p:nvPr>
            <p:ph type="sldNum" sz="quarter" idx="5"/>
          </p:nvPr>
        </p:nvSpPr>
        <p:spPr/>
        <p:txBody>
          <a:bodyPr/>
          <a:lstStyle/>
          <a:p>
            <a:fld id="{CFE641A9-FDE3-4583-B812-65C4064188F6}" type="slidenum">
              <a:rPr lang="en-CA" smtClean="0"/>
              <a:t>23</a:t>
            </a:fld>
            <a:endParaRPr lang="en-CA"/>
          </a:p>
        </p:txBody>
      </p:sp>
    </p:spTree>
    <p:extLst>
      <p:ext uri="{BB962C8B-B14F-4D97-AF65-F5344CB8AC3E}">
        <p14:creationId xmlns:p14="http://schemas.microsoft.com/office/powerpoint/2010/main" val="1144651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4C01-C84C-9427-B684-2E837D486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925F4-851D-1E92-3AE0-0CC265989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6C2922-EE37-3755-0762-3D6AAAEEA33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04ACD58-4EA1-A06B-85CC-C9B4D93CC68F}"/>
              </a:ext>
            </a:extLst>
          </p:cNvPr>
          <p:cNvSpPr>
            <a:spLocks noGrp="1"/>
          </p:cNvSpPr>
          <p:nvPr>
            <p:ph type="sldNum" sz="quarter" idx="5"/>
          </p:nvPr>
        </p:nvSpPr>
        <p:spPr/>
        <p:txBody>
          <a:bodyPr/>
          <a:lstStyle/>
          <a:p>
            <a:fld id="{CFE641A9-FDE3-4583-B812-65C4064188F6}" type="slidenum">
              <a:rPr lang="en-CA" smtClean="0"/>
              <a:t>26</a:t>
            </a:fld>
            <a:endParaRPr lang="en-CA"/>
          </a:p>
        </p:txBody>
      </p:sp>
    </p:spTree>
    <p:extLst>
      <p:ext uri="{BB962C8B-B14F-4D97-AF65-F5344CB8AC3E}">
        <p14:creationId xmlns:p14="http://schemas.microsoft.com/office/powerpoint/2010/main" val="15287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8B9B7-AA58-4CCF-7FBD-2FAEE5CE1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391BD-E210-773F-DA51-92AB6912A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44E31-2BBF-CA80-62DE-B11A84511CA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E38057C-6C08-54ED-4358-46C9C404CEFF}"/>
              </a:ext>
            </a:extLst>
          </p:cNvPr>
          <p:cNvSpPr>
            <a:spLocks noGrp="1"/>
          </p:cNvSpPr>
          <p:nvPr>
            <p:ph type="sldNum" sz="quarter" idx="5"/>
          </p:nvPr>
        </p:nvSpPr>
        <p:spPr/>
        <p:txBody>
          <a:bodyPr/>
          <a:lstStyle/>
          <a:p>
            <a:fld id="{CFE641A9-FDE3-4583-B812-65C4064188F6}" type="slidenum">
              <a:rPr lang="en-CA" smtClean="0"/>
              <a:t>31</a:t>
            </a:fld>
            <a:endParaRPr lang="en-CA"/>
          </a:p>
        </p:txBody>
      </p:sp>
    </p:spTree>
    <p:extLst>
      <p:ext uri="{BB962C8B-B14F-4D97-AF65-F5344CB8AC3E}">
        <p14:creationId xmlns:p14="http://schemas.microsoft.com/office/powerpoint/2010/main" val="986321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E9E6-57DA-2668-431C-EFC765AB2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A08C7-BB24-5D8F-086D-147BA04CF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2D454-320C-1E57-AB52-F45A6832582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2BC5129-35AB-D540-72DC-7675784484A6}"/>
              </a:ext>
            </a:extLst>
          </p:cNvPr>
          <p:cNvSpPr>
            <a:spLocks noGrp="1"/>
          </p:cNvSpPr>
          <p:nvPr>
            <p:ph type="sldNum" sz="quarter" idx="5"/>
          </p:nvPr>
        </p:nvSpPr>
        <p:spPr/>
        <p:txBody>
          <a:bodyPr/>
          <a:lstStyle/>
          <a:p>
            <a:fld id="{CFE641A9-FDE3-4583-B812-65C4064188F6}" type="slidenum">
              <a:rPr lang="en-CA" smtClean="0"/>
              <a:t>32</a:t>
            </a:fld>
            <a:endParaRPr lang="en-CA"/>
          </a:p>
        </p:txBody>
      </p:sp>
    </p:spTree>
    <p:extLst>
      <p:ext uri="{BB962C8B-B14F-4D97-AF65-F5344CB8AC3E}">
        <p14:creationId xmlns:p14="http://schemas.microsoft.com/office/powerpoint/2010/main" val="2122107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FE641A9-FDE3-4583-B812-65C4064188F6}" type="slidenum">
              <a:rPr lang="en-CA" smtClean="0"/>
              <a:t>35</a:t>
            </a:fld>
            <a:endParaRPr lang="en-CA"/>
          </a:p>
        </p:txBody>
      </p:sp>
    </p:spTree>
    <p:extLst>
      <p:ext uri="{BB962C8B-B14F-4D97-AF65-F5344CB8AC3E}">
        <p14:creationId xmlns:p14="http://schemas.microsoft.com/office/powerpoint/2010/main" val="20503611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92951" y="2539093"/>
            <a:ext cx="10606097" cy="1468891"/>
          </a:xfrm>
        </p:spPr>
        <p:txBody>
          <a:bodyPr anchor="t">
            <a:noAutofit/>
          </a:bodyPr>
          <a:lstStyle>
            <a:lvl1pPr algn="ctr">
              <a:lnSpc>
                <a:spcPct val="100000"/>
              </a:lnSpc>
              <a:defRPr sz="48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951" y="4376057"/>
            <a:ext cx="10606097" cy="1134837"/>
          </a:xfrm>
        </p:spPr>
        <p:txBody>
          <a:bodyPr/>
          <a:lstStyle>
            <a:lvl1pPr marL="0" indent="0" algn="ctr">
              <a:buNone/>
              <a:defRPr sz="2400">
                <a:solidFill>
                  <a:schemeClr val="bg2"/>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56127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6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838200" y="1825625"/>
            <a:ext cx="10515600" cy="36869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p:nvSpPr>
        <p:spPr>
          <a:xfrm>
            <a:off x="1981329" y="679939"/>
            <a:ext cx="184731" cy="230832"/>
          </a:xfrm>
          <a:prstGeom prst="rect">
            <a:avLst/>
          </a:prstGeom>
          <a:noFill/>
        </p:spPr>
        <p:txBody>
          <a:bodyPr wrap="none" rtlCol="0">
            <a:spAutoFit/>
          </a:bodyPr>
          <a:lstStyle/>
          <a:p>
            <a:endParaRPr lang="en-US" sz="900" dirty="0"/>
          </a:p>
        </p:txBody>
      </p:sp>
    </p:spTree>
    <p:extLst>
      <p:ext uri="{BB962C8B-B14F-4D97-AF65-F5344CB8AC3E}">
        <p14:creationId xmlns:p14="http://schemas.microsoft.com/office/powerpoint/2010/main" val="323832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cap="all" baseline="0"/>
            </a:lvl1pPr>
          </a:lstStyle>
          <a:p>
            <a:r>
              <a:rPr lang="en-US"/>
              <a:t>Click to edit Master title style</a:t>
            </a:r>
            <a:endParaRPr lang="en-US" dirty="0"/>
          </a:p>
        </p:txBody>
      </p:sp>
      <p:sp>
        <p:nvSpPr>
          <p:cNvPr id="3" name="Content Placeholder 2"/>
          <p:cNvSpPr>
            <a:spLocks noGrp="1"/>
          </p:cNvSpPr>
          <p:nvPr>
            <p:ph sz="half" idx="1"/>
          </p:nvPr>
        </p:nvSpPr>
        <p:spPr>
          <a:xfrm>
            <a:off x="838200" y="1825624"/>
            <a:ext cx="5181600" cy="45506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378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439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825625"/>
            <a:ext cx="10515600" cy="348116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02183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792951" y="2785277"/>
            <a:ext cx="10606097" cy="1468891"/>
          </a:xfrm>
        </p:spPr>
        <p:txBody>
          <a:bodyPr anchor="t">
            <a:noAutofit/>
          </a:bodyPr>
          <a:lstStyle>
            <a:lvl1pPr algn="ctr">
              <a:lnSpc>
                <a:spcPct val="100000"/>
              </a:lnSpc>
              <a:defRPr sz="4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2810819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11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2831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rial" panose="020B0604020202020204" pitchFamily="34" charset="0"/>
                <a:cs typeface="Arial" panose="020B0604020202020204" pitchFamily="34" charset="0"/>
              </a:defRPr>
            </a:lvl1pPr>
          </a:lstStyle>
          <a:p>
            <a:fld id="{42324503-65B2-B147-B7D0-901C284D8BB3}" type="datetimeFigureOut">
              <a:rPr lang="en-US" smtClean="0"/>
              <a:t>4/6/26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panose="020B0604020202020204" pitchFamily="34" charset="0"/>
                <a:cs typeface="Arial" panose="020B0604020202020204" pitchFamily="34" charset="0"/>
              </a:defRPr>
            </a:lvl1pPr>
          </a:lstStyle>
          <a:p>
            <a:fld id="{7350AE0C-6DEA-8141-A29A-9086B1E53C3E}" type="slidenum">
              <a:rPr lang="en-US" smtClean="0"/>
              <a:t>‹#›</a:t>
            </a:fld>
            <a:endParaRPr lang="en-US"/>
          </a:p>
        </p:txBody>
      </p:sp>
    </p:spTree>
    <p:extLst>
      <p:ext uri="{BB962C8B-B14F-4D97-AF65-F5344CB8AC3E}">
        <p14:creationId xmlns:p14="http://schemas.microsoft.com/office/powerpoint/2010/main" val="3924932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355" rtl="0" eaLnBrk="1" latinLnBrk="0" hangingPunct="1">
        <a:lnSpc>
          <a:spcPct val="90000"/>
        </a:lnSpc>
        <a:spcBef>
          <a:spcPct val="0"/>
        </a:spcBef>
        <a:buNone/>
        <a:defRPr sz="3600" b="1" i="0" kern="1200">
          <a:solidFill>
            <a:schemeClr val="accent1"/>
          </a:solidFill>
          <a:latin typeface="Arial" panose="020B0604020202020204" pitchFamily="34" charset="0"/>
          <a:ea typeface="+mj-ea"/>
          <a:cs typeface="Arial" panose="020B0604020202020204" pitchFamily="34" charset="0"/>
        </a:defRPr>
      </a:lvl1pPr>
    </p:titleStyle>
    <p:bodyStyle>
      <a:lvl1pPr marL="228589" indent="-228589" algn="l" defTabSz="914355"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Arial" panose="020B0604020202020204" pitchFamily="34" charset="0"/>
        </a:defRPr>
      </a:lvl1pPr>
      <a:lvl2pPr marL="685766" indent="-228589" algn="l" defTabSz="914355"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Arial" panose="020B0604020202020204" pitchFamily="34" charset="0"/>
        </a:defRPr>
      </a:lvl2pPr>
      <a:lvl3pPr marL="1142943" indent="-228589" algn="l" defTabSz="914355"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120"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297" indent="-228589" algn="l" defTabSz="914355"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479D-7383-A062-82D7-132E719500FE}"/>
              </a:ext>
            </a:extLst>
          </p:cNvPr>
          <p:cNvSpPr>
            <a:spLocks noGrp="1"/>
          </p:cNvSpPr>
          <p:nvPr>
            <p:ph type="ctrTitle"/>
          </p:nvPr>
        </p:nvSpPr>
        <p:spPr/>
        <p:txBody>
          <a:bodyPr/>
          <a:lstStyle/>
          <a:p>
            <a:r>
              <a:rPr lang="en-US" dirty="0"/>
              <a:t>SDEV2150</a:t>
            </a:r>
          </a:p>
        </p:txBody>
      </p:sp>
      <p:sp>
        <p:nvSpPr>
          <p:cNvPr id="3" name="Subtitle 2">
            <a:extLst>
              <a:ext uri="{FF2B5EF4-FFF2-40B4-BE49-F238E27FC236}">
                <a16:creationId xmlns:a16="http://schemas.microsoft.com/office/drawing/2014/main" id="{EA870D04-5049-481F-17B3-6CAD79096634}"/>
              </a:ext>
            </a:extLst>
          </p:cNvPr>
          <p:cNvSpPr>
            <a:spLocks noGrp="1"/>
          </p:cNvSpPr>
          <p:nvPr>
            <p:ph type="subTitle" idx="1"/>
          </p:nvPr>
        </p:nvSpPr>
        <p:spPr/>
        <p:txBody>
          <a:bodyPr/>
          <a:lstStyle/>
          <a:p>
            <a:r>
              <a:rPr lang="en-US" dirty="0"/>
              <a:t>Lesson 25: State Management Strategies</a:t>
            </a:r>
            <a:endParaRPr lang="en-CA" dirty="0"/>
          </a:p>
        </p:txBody>
      </p:sp>
    </p:spTree>
    <p:extLst>
      <p:ext uri="{BB962C8B-B14F-4D97-AF65-F5344CB8AC3E}">
        <p14:creationId xmlns:p14="http://schemas.microsoft.com/office/powerpoint/2010/main" val="22396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1445B-2B4F-5954-E61B-77DD40F773CF}"/>
              </a:ext>
            </a:extLst>
          </p:cNvPr>
          <p:cNvSpPr>
            <a:spLocks noGrp="1"/>
          </p:cNvSpPr>
          <p:nvPr>
            <p:ph type="title"/>
          </p:nvPr>
        </p:nvSpPr>
        <p:spPr/>
        <p:txBody>
          <a:bodyPr/>
          <a:lstStyle/>
          <a:p>
            <a:r>
              <a:rPr lang="en-US" dirty="0"/>
              <a:t>Lesson Objectives</a:t>
            </a:r>
          </a:p>
        </p:txBody>
      </p:sp>
      <p:sp>
        <p:nvSpPr>
          <p:cNvPr id="3" name="Content Placeholder 2">
            <a:extLst>
              <a:ext uri="{FF2B5EF4-FFF2-40B4-BE49-F238E27FC236}">
                <a16:creationId xmlns:a16="http://schemas.microsoft.com/office/drawing/2014/main" id="{D3165CDC-2775-AA01-C4E4-CBD66BB41CE3}"/>
              </a:ext>
            </a:extLst>
          </p:cNvPr>
          <p:cNvSpPr>
            <a:spLocks noGrp="1"/>
          </p:cNvSpPr>
          <p:nvPr>
            <p:ph idx="1"/>
          </p:nvPr>
        </p:nvSpPr>
        <p:spPr/>
        <p:txBody>
          <a:bodyPr>
            <a:normAutofit/>
          </a:bodyPr>
          <a:lstStyle/>
          <a:p>
            <a:pPr marL="0" indent="0">
              <a:buNone/>
            </a:pPr>
            <a:r>
              <a:rPr lang="en-US" dirty="0"/>
              <a:t>In this lesson, students will:</a:t>
            </a:r>
          </a:p>
          <a:p>
            <a:pPr marL="0" indent="0">
              <a:buNone/>
            </a:pPr>
            <a:endParaRPr lang="en-US" dirty="0"/>
          </a:p>
          <a:p>
            <a:r>
              <a:rPr lang="en-US" dirty="0"/>
              <a:t>Identify different types of state</a:t>
            </a:r>
          </a:p>
          <a:p>
            <a:r>
              <a:rPr lang="en-US" dirty="0"/>
              <a:t>Map tools to state types</a:t>
            </a:r>
          </a:p>
          <a:p>
            <a:r>
              <a:rPr lang="en-US" dirty="0"/>
              <a:t>Explain when to use each approach</a:t>
            </a:r>
          </a:p>
          <a:p>
            <a:r>
              <a:rPr lang="en-US" dirty="0"/>
              <a:t>Recognize common state management mistakes</a:t>
            </a:r>
          </a:p>
          <a:p>
            <a:r>
              <a:rPr lang="en-US" dirty="0"/>
              <a:t>Apply a decision framework to real scenarios</a:t>
            </a:r>
          </a:p>
        </p:txBody>
      </p:sp>
    </p:spTree>
    <p:extLst>
      <p:ext uri="{BB962C8B-B14F-4D97-AF65-F5344CB8AC3E}">
        <p14:creationId xmlns:p14="http://schemas.microsoft.com/office/powerpoint/2010/main" val="197378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C05A-AE25-1768-8A9B-9E1C61225334}"/>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915481B4-3432-EE69-114F-1E97A4260877}"/>
              </a:ext>
            </a:extLst>
          </p:cNvPr>
          <p:cNvSpPr>
            <a:spLocks noGrp="1"/>
          </p:cNvSpPr>
          <p:nvPr>
            <p:ph idx="1"/>
          </p:nvPr>
        </p:nvSpPr>
        <p:spPr/>
        <p:txBody>
          <a:bodyPr/>
          <a:lstStyle/>
          <a:p>
            <a:r>
              <a:rPr lang="en-US" dirty="0"/>
              <a:t>State recap</a:t>
            </a:r>
          </a:p>
          <a:p>
            <a:r>
              <a:rPr lang="en-US" dirty="0"/>
              <a:t>Types of state</a:t>
            </a:r>
          </a:p>
          <a:p>
            <a:r>
              <a:rPr lang="en-US" dirty="0"/>
              <a:t>Tool mapping</a:t>
            </a:r>
          </a:p>
          <a:p>
            <a:r>
              <a:rPr lang="en-US" dirty="0"/>
              <a:t>Applying to our app</a:t>
            </a:r>
          </a:p>
          <a:p>
            <a:r>
              <a:rPr lang="en-US" dirty="0"/>
              <a:t>Common mistakes</a:t>
            </a:r>
          </a:p>
          <a:p>
            <a:r>
              <a:rPr lang="en-US" dirty="0"/>
              <a:t>Decision framework</a:t>
            </a:r>
          </a:p>
        </p:txBody>
      </p:sp>
    </p:spTree>
    <p:extLst>
      <p:ext uri="{BB962C8B-B14F-4D97-AF65-F5344CB8AC3E}">
        <p14:creationId xmlns:p14="http://schemas.microsoft.com/office/powerpoint/2010/main" val="1231324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AEED0-DDE6-8C55-40FD-B519647BD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1B982-B120-50FB-49C1-AD22E1B10A75}"/>
              </a:ext>
            </a:extLst>
          </p:cNvPr>
          <p:cNvSpPr>
            <a:spLocks noGrp="1"/>
          </p:cNvSpPr>
          <p:nvPr>
            <p:ph type="title"/>
          </p:nvPr>
        </p:nvSpPr>
        <p:spPr>
          <a:xfrm>
            <a:off x="838200" y="2766218"/>
            <a:ext cx="10515600" cy="1325563"/>
          </a:xfrm>
        </p:spPr>
        <p:txBody>
          <a:bodyPr/>
          <a:lstStyle/>
          <a:p>
            <a:pPr algn="ctr"/>
            <a:r>
              <a:rPr lang="en-CA" dirty="0"/>
              <a:t>Connecting</a:t>
            </a:r>
          </a:p>
        </p:txBody>
      </p:sp>
    </p:spTree>
    <p:extLst>
      <p:ext uri="{BB962C8B-B14F-4D97-AF65-F5344CB8AC3E}">
        <p14:creationId xmlns:p14="http://schemas.microsoft.com/office/powerpoint/2010/main" val="126031711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C1F16-3474-C259-3A81-449262C38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D7A18-9B1C-5D39-C1F3-CA18B29F3D4D}"/>
              </a:ext>
            </a:extLst>
          </p:cNvPr>
          <p:cNvSpPr>
            <a:spLocks noGrp="1"/>
          </p:cNvSpPr>
          <p:nvPr>
            <p:ph type="title"/>
          </p:nvPr>
        </p:nvSpPr>
        <p:spPr/>
        <p:txBody>
          <a:bodyPr/>
          <a:lstStyle/>
          <a:p>
            <a:r>
              <a:rPr lang="en-CA" dirty="0"/>
              <a:t>What have we learned?</a:t>
            </a:r>
            <a:endParaRPr lang="en-CA" b="0" dirty="0"/>
          </a:p>
        </p:txBody>
      </p:sp>
      <p:sp>
        <p:nvSpPr>
          <p:cNvPr id="3" name="Content Placeholder 2">
            <a:extLst>
              <a:ext uri="{FF2B5EF4-FFF2-40B4-BE49-F238E27FC236}">
                <a16:creationId xmlns:a16="http://schemas.microsoft.com/office/drawing/2014/main" id="{7FCA2C2F-55AB-166E-85E7-C1815433E8A4}"/>
              </a:ext>
            </a:extLst>
          </p:cNvPr>
          <p:cNvSpPr>
            <a:spLocks noGrp="1"/>
          </p:cNvSpPr>
          <p:nvPr>
            <p:ph idx="1"/>
          </p:nvPr>
        </p:nvSpPr>
        <p:spPr/>
        <p:txBody>
          <a:bodyPr>
            <a:normAutofit/>
          </a:bodyPr>
          <a:lstStyle/>
          <a:p>
            <a:pPr marL="0" indent="0">
              <a:buNone/>
            </a:pPr>
            <a:r>
              <a:rPr lang="en-US" dirty="0" err="1"/>
              <a:t>useState</a:t>
            </a:r>
            <a:r>
              <a:rPr lang="en-US" dirty="0"/>
              <a:t> -&gt; local state</a:t>
            </a:r>
          </a:p>
          <a:p>
            <a:pPr marL="0" indent="0">
              <a:buNone/>
            </a:pPr>
            <a:r>
              <a:rPr lang="en-US" dirty="0"/>
              <a:t>Context -&gt; shared client state</a:t>
            </a:r>
          </a:p>
          <a:p>
            <a:pPr marL="0" indent="0">
              <a:buNone/>
            </a:pPr>
            <a:r>
              <a:rPr lang="en-US" dirty="0" err="1"/>
              <a:t>TanStack</a:t>
            </a:r>
            <a:r>
              <a:rPr lang="en-US" dirty="0"/>
              <a:t> Query -&gt; server state</a:t>
            </a:r>
          </a:p>
          <a:p>
            <a:pPr marL="0" indent="0">
              <a:buNone/>
            </a:pPr>
            <a:r>
              <a:rPr lang="en-US" dirty="0"/>
              <a:t>React Router -&gt; navigation</a:t>
            </a:r>
            <a:endParaRPr lang="en-CA" i="1" dirty="0"/>
          </a:p>
        </p:txBody>
      </p:sp>
    </p:spTree>
    <p:extLst>
      <p:ext uri="{BB962C8B-B14F-4D97-AF65-F5344CB8AC3E}">
        <p14:creationId xmlns:p14="http://schemas.microsoft.com/office/powerpoint/2010/main" val="2392794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6A62-3096-7ED3-BDC9-4D99E862D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E158D-8B33-384D-036A-A2E8BEE670B1}"/>
              </a:ext>
            </a:extLst>
          </p:cNvPr>
          <p:cNvSpPr>
            <a:spLocks noGrp="1"/>
          </p:cNvSpPr>
          <p:nvPr>
            <p:ph type="title"/>
          </p:nvPr>
        </p:nvSpPr>
        <p:spPr/>
        <p:txBody>
          <a:bodyPr>
            <a:normAutofit/>
          </a:bodyPr>
          <a:lstStyle/>
          <a:p>
            <a:r>
              <a:rPr lang="en-US" dirty="0"/>
              <a:t>The problem</a:t>
            </a:r>
          </a:p>
        </p:txBody>
      </p:sp>
      <p:sp>
        <p:nvSpPr>
          <p:cNvPr id="3" name="Content Placeholder 2">
            <a:extLst>
              <a:ext uri="{FF2B5EF4-FFF2-40B4-BE49-F238E27FC236}">
                <a16:creationId xmlns:a16="http://schemas.microsoft.com/office/drawing/2014/main" id="{99F6D78C-59A2-8039-9E4E-B772C6A45F3B}"/>
              </a:ext>
            </a:extLst>
          </p:cNvPr>
          <p:cNvSpPr>
            <a:spLocks noGrp="1"/>
          </p:cNvSpPr>
          <p:nvPr>
            <p:ph idx="1"/>
          </p:nvPr>
        </p:nvSpPr>
        <p:spPr>
          <a:xfrm>
            <a:off x="838200" y="3048000"/>
            <a:ext cx="10515600" cy="2464526"/>
          </a:xfrm>
        </p:spPr>
        <p:txBody>
          <a:bodyPr>
            <a:normAutofit/>
          </a:bodyPr>
          <a:lstStyle/>
          <a:p>
            <a:pPr marL="0" indent="0">
              <a:buNone/>
            </a:pPr>
            <a:r>
              <a:rPr lang="en-US" dirty="0"/>
              <a:t>We now have multiple tools.</a:t>
            </a:r>
          </a:p>
          <a:p>
            <a:pPr marL="0" indent="0">
              <a:buNone/>
            </a:pPr>
            <a:endParaRPr lang="en-US" dirty="0"/>
          </a:p>
          <a:p>
            <a:pPr marL="0" indent="0">
              <a:buNone/>
            </a:pPr>
            <a:r>
              <a:rPr lang="en-US" dirty="0"/>
              <a:t>Which one do we use?</a:t>
            </a:r>
          </a:p>
        </p:txBody>
      </p:sp>
    </p:spTree>
    <p:extLst>
      <p:ext uri="{BB962C8B-B14F-4D97-AF65-F5344CB8AC3E}">
        <p14:creationId xmlns:p14="http://schemas.microsoft.com/office/powerpoint/2010/main" val="487249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CC11-8C94-BAA7-4ADD-441408C2F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8D7EF-F87A-2573-0248-C4765DBEA735}"/>
              </a:ext>
            </a:extLst>
          </p:cNvPr>
          <p:cNvSpPr>
            <a:spLocks noGrp="1"/>
          </p:cNvSpPr>
          <p:nvPr>
            <p:ph type="title"/>
          </p:nvPr>
        </p:nvSpPr>
        <p:spPr/>
        <p:txBody>
          <a:bodyPr>
            <a:normAutofit/>
          </a:bodyPr>
          <a:lstStyle/>
          <a:p>
            <a:r>
              <a:rPr lang="en-US" dirty="0"/>
              <a:t>Key question</a:t>
            </a:r>
          </a:p>
        </p:txBody>
      </p:sp>
      <p:sp>
        <p:nvSpPr>
          <p:cNvPr id="3" name="Content Placeholder 2">
            <a:extLst>
              <a:ext uri="{FF2B5EF4-FFF2-40B4-BE49-F238E27FC236}">
                <a16:creationId xmlns:a16="http://schemas.microsoft.com/office/drawing/2014/main" id="{C2F3234F-5768-B668-E951-8A80E44B7280}"/>
              </a:ext>
            </a:extLst>
          </p:cNvPr>
          <p:cNvSpPr>
            <a:spLocks noGrp="1"/>
          </p:cNvSpPr>
          <p:nvPr>
            <p:ph idx="1"/>
          </p:nvPr>
        </p:nvSpPr>
        <p:spPr>
          <a:xfrm>
            <a:off x="838200" y="3048000"/>
            <a:ext cx="10515600" cy="2464526"/>
          </a:xfrm>
        </p:spPr>
        <p:txBody>
          <a:bodyPr>
            <a:normAutofit/>
          </a:bodyPr>
          <a:lstStyle/>
          <a:p>
            <a:pPr marL="0" indent="0">
              <a:buNone/>
            </a:pPr>
            <a:r>
              <a:rPr lang="en-US" dirty="0"/>
              <a:t>Where should this state live?</a:t>
            </a:r>
          </a:p>
        </p:txBody>
      </p:sp>
    </p:spTree>
    <p:extLst>
      <p:ext uri="{BB962C8B-B14F-4D97-AF65-F5344CB8AC3E}">
        <p14:creationId xmlns:p14="http://schemas.microsoft.com/office/powerpoint/2010/main" val="3909761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A52A6-B6C0-A97B-A6FC-A05487E60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2162D-6F79-9F91-305A-598E214D9938}"/>
              </a:ext>
            </a:extLst>
          </p:cNvPr>
          <p:cNvSpPr>
            <a:spLocks noGrp="1"/>
          </p:cNvSpPr>
          <p:nvPr>
            <p:ph type="title"/>
          </p:nvPr>
        </p:nvSpPr>
        <p:spPr>
          <a:xfrm>
            <a:off x="838200" y="2766218"/>
            <a:ext cx="10515600" cy="1325563"/>
          </a:xfrm>
        </p:spPr>
        <p:txBody>
          <a:bodyPr/>
          <a:lstStyle/>
          <a:p>
            <a:pPr algn="ctr"/>
            <a:r>
              <a:rPr lang="en-CA" dirty="0"/>
              <a:t>Types of State</a:t>
            </a:r>
          </a:p>
        </p:txBody>
      </p:sp>
    </p:spTree>
    <p:extLst>
      <p:ext uri="{BB962C8B-B14F-4D97-AF65-F5344CB8AC3E}">
        <p14:creationId xmlns:p14="http://schemas.microsoft.com/office/powerpoint/2010/main" val="173132614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F8BAC-9251-5B78-45AF-DD712BD8A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83AA-516C-D39A-6F4A-ED29CF3C12C0}"/>
              </a:ext>
            </a:extLst>
          </p:cNvPr>
          <p:cNvSpPr>
            <a:spLocks noGrp="1"/>
          </p:cNvSpPr>
          <p:nvPr>
            <p:ph type="title"/>
          </p:nvPr>
        </p:nvSpPr>
        <p:spPr/>
        <p:txBody>
          <a:bodyPr>
            <a:normAutofit/>
          </a:bodyPr>
          <a:lstStyle/>
          <a:p>
            <a:r>
              <a:rPr lang="en-US" dirty="0"/>
              <a:t>Local UI State</a:t>
            </a:r>
          </a:p>
        </p:txBody>
      </p:sp>
      <p:sp>
        <p:nvSpPr>
          <p:cNvPr id="3" name="Content Placeholder 2">
            <a:extLst>
              <a:ext uri="{FF2B5EF4-FFF2-40B4-BE49-F238E27FC236}">
                <a16:creationId xmlns:a16="http://schemas.microsoft.com/office/drawing/2014/main" id="{B5DC294F-96C3-29CC-38F3-15E8CF23C782}"/>
              </a:ext>
            </a:extLst>
          </p:cNvPr>
          <p:cNvSpPr>
            <a:spLocks noGrp="1"/>
          </p:cNvSpPr>
          <p:nvPr>
            <p:ph idx="1"/>
          </p:nvPr>
        </p:nvSpPr>
        <p:spPr>
          <a:xfrm>
            <a:off x="838200" y="1690689"/>
            <a:ext cx="10515600" cy="3821837"/>
          </a:xfrm>
        </p:spPr>
        <p:txBody>
          <a:bodyPr>
            <a:normAutofit/>
          </a:bodyPr>
          <a:lstStyle/>
          <a:p>
            <a:r>
              <a:rPr lang="en-US" dirty="0"/>
              <a:t>belongs to one component</a:t>
            </a:r>
          </a:p>
          <a:p>
            <a:r>
              <a:rPr lang="en-US" dirty="0"/>
              <a:t>short-lived</a:t>
            </a:r>
          </a:p>
          <a:p>
            <a:pPr marL="0" indent="0">
              <a:buNone/>
            </a:pPr>
            <a:endParaRPr lang="en-US" dirty="0"/>
          </a:p>
          <a:p>
            <a:pPr marL="0" indent="0">
              <a:buNone/>
            </a:pPr>
            <a:r>
              <a:rPr lang="en-US" dirty="0"/>
              <a:t>Examples:</a:t>
            </a:r>
          </a:p>
          <a:p>
            <a:r>
              <a:rPr lang="en-US" dirty="0"/>
              <a:t>form inputs</a:t>
            </a:r>
          </a:p>
          <a:p>
            <a:r>
              <a:rPr lang="en-US" dirty="0"/>
              <a:t>toggles</a:t>
            </a:r>
          </a:p>
        </p:txBody>
      </p:sp>
    </p:spTree>
    <p:extLst>
      <p:ext uri="{BB962C8B-B14F-4D97-AF65-F5344CB8AC3E}">
        <p14:creationId xmlns:p14="http://schemas.microsoft.com/office/powerpoint/2010/main" val="1578059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1949-70E6-524C-C90E-FD61F5759D1C}"/>
              </a:ext>
            </a:extLst>
          </p:cNvPr>
          <p:cNvSpPr>
            <a:spLocks noGrp="1"/>
          </p:cNvSpPr>
          <p:nvPr>
            <p:ph type="title"/>
          </p:nvPr>
        </p:nvSpPr>
        <p:spPr/>
        <p:txBody>
          <a:bodyPr>
            <a:normAutofit/>
          </a:bodyPr>
          <a:lstStyle/>
          <a:p>
            <a:r>
              <a:rPr lang="en-US" dirty="0"/>
              <a:t>Shared Client State</a:t>
            </a:r>
          </a:p>
        </p:txBody>
      </p:sp>
      <p:sp>
        <p:nvSpPr>
          <p:cNvPr id="3" name="Content Placeholder 2">
            <a:extLst>
              <a:ext uri="{FF2B5EF4-FFF2-40B4-BE49-F238E27FC236}">
                <a16:creationId xmlns:a16="http://schemas.microsoft.com/office/drawing/2014/main" id="{EB78D638-C70C-9E14-E05B-EC549CBAB269}"/>
              </a:ext>
            </a:extLst>
          </p:cNvPr>
          <p:cNvSpPr>
            <a:spLocks noGrp="1"/>
          </p:cNvSpPr>
          <p:nvPr>
            <p:ph idx="1"/>
          </p:nvPr>
        </p:nvSpPr>
        <p:spPr/>
        <p:txBody>
          <a:bodyPr>
            <a:normAutofit/>
          </a:bodyPr>
          <a:lstStyle/>
          <a:p>
            <a:r>
              <a:rPr lang="en-US" dirty="0"/>
              <a:t>shared across components</a:t>
            </a:r>
          </a:p>
          <a:p>
            <a:r>
              <a:rPr lang="en-US" dirty="0"/>
              <a:t>UI-related</a:t>
            </a:r>
          </a:p>
          <a:p>
            <a:endParaRPr lang="en-US" dirty="0"/>
          </a:p>
          <a:p>
            <a:pPr marL="0" indent="0">
              <a:buNone/>
            </a:pPr>
            <a:r>
              <a:rPr lang="en-US" dirty="0"/>
              <a:t>Examples:</a:t>
            </a:r>
          </a:p>
          <a:p>
            <a:r>
              <a:rPr lang="en-US" dirty="0"/>
              <a:t>theme</a:t>
            </a:r>
          </a:p>
          <a:p>
            <a:r>
              <a:rPr lang="en-US" dirty="0"/>
              <a:t>selected item</a:t>
            </a:r>
          </a:p>
        </p:txBody>
      </p:sp>
    </p:spTree>
    <p:extLst>
      <p:ext uri="{BB962C8B-B14F-4D97-AF65-F5344CB8AC3E}">
        <p14:creationId xmlns:p14="http://schemas.microsoft.com/office/powerpoint/2010/main" val="404546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70BC-5FAD-9DED-1C64-E6E20035D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C827E-5CA3-4B10-6A81-CE7A0690B7D6}"/>
              </a:ext>
            </a:extLst>
          </p:cNvPr>
          <p:cNvSpPr>
            <a:spLocks noGrp="1"/>
          </p:cNvSpPr>
          <p:nvPr>
            <p:ph type="title"/>
          </p:nvPr>
        </p:nvSpPr>
        <p:spPr/>
        <p:txBody>
          <a:bodyPr>
            <a:normAutofit/>
          </a:bodyPr>
          <a:lstStyle/>
          <a:p>
            <a:r>
              <a:rPr lang="en-US" dirty="0"/>
              <a:t>Server State</a:t>
            </a:r>
          </a:p>
        </p:txBody>
      </p:sp>
      <p:sp>
        <p:nvSpPr>
          <p:cNvPr id="5" name="Content Placeholder 4">
            <a:extLst>
              <a:ext uri="{FF2B5EF4-FFF2-40B4-BE49-F238E27FC236}">
                <a16:creationId xmlns:a16="http://schemas.microsoft.com/office/drawing/2014/main" id="{51F65CF2-00AE-1763-1EFC-8FC89DE113D1}"/>
              </a:ext>
            </a:extLst>
          </p:cNvPr>
          <p:cNvSpPr>
            <a:spLocks noGrp="1"/>
          </p:cNvSpPr>
          <p:nvPr>
            <p:ph idx="1"/>
          </p:nvPr>
        </p:nvSpPr>
        <p:spPr>
          <a:xfrm>
            <a:off x="838200" y="1690689"/>
            <a:ext cx="10515600" cy="3821837"/>
          </a:xfrm>
        </p:spPr>
        <p:txBody>
          <a:bodyPr>
            <a:normAutofit/>
          </a:bodyPr>
          <a:lstStyle/>
          <a:p>
            <a:r>
              <a:rPr lang="en-US" dirty="0"/>
              <a:t>comes from an API</a:t>
            </a:r>
          </a:p>
          <a:p>
            <a:r>
              <a:rPr lang="en-US" dirty="0"/>
              <a:t>changes outside your app</a:t>
            </a:r>
          </a:p>
          <a:p>
            <a:endParaRPr lang="en-US" dirty="0"/>
          </a:p>
          <a:p>
            <a:pPr marL="0" indent="0">
              <a:buNone/>
            </a:pPr>
            <a:r>
              <a:rPr lang="en-US" dirty="0"/>
              <a:t>Examples:</a:t>
            </a:r>
          </a:p>
          <a:p>
            <a:r>
              <a:rPr lang="en-US" dirty="0"/>
              <a:t>resources list</a:t>
            </a:r>
          </a:p>
          <a:p>
            <a:r>
              <a:rPr lang="en-US" dirty="0"/>
              <a:t>selected resource data</a:t>
            </a:r>
          </a:p>
        </p:txBody>
      </p:sp>
    </p:spTree>
    <p:extLst>
      <p:ext uri="{BB962C8B-B14F-4D97-AF65-F5344CB8AC3E}">
        <p14:creationId xmlns:p14="http://schemas.microsoft.com/office/powerpoint/2010/main" val="923760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1674-0C00-994F-3851-3DD0F7D40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D86F6-244E-2771-CFCA-127394EA4DFA}"/>
              </a:ext>
            </a:extLst>
          </p:cNvPr>
          <p:cNvSpPr>
            <a:spLocks noGrp="1"/>
          </p:cNvSpPr>
          <p:nvPr>
            <p:ph type="title"/>
          </p:nvPr>
        </p:nvSpPr>
        <p:spPr>
          <a:xfrm>
            <a:off x="838200" y="2766218"/>
            <a:ext cx="10515600" cy="1325563"/>
          </a:xfrm>
        </p:spPr>
        <p:txBody>
          <a:bodyPr/>
          <a:lstStyle/>
          <a:p>
            <a:pPr algn="ctr"/>
            <a:r>
              <a:rPr lang="en-CA" dirty="0"/>
              <a:t>Tool Mapping</a:t>
            </a:r>
          </a:p>
        </p:txBody>
      </p:sp>
    </p:spTree>
    <p:extLst>
      <p:ext uri="{BB962C8B-B14F-4D97-AF65-F5344CB8AC3E}">
        <p14:creationId xmlns:p14="http://schemas.microsoft.com/office/powerpoint/2010/main" val="2511367113"/>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8F398-DAD9-BE32-3C3B-27731F4AE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9D3E6-9E60-C188-A728-8C6077E402DC}"/>
              </a:ext>
            </a:extLst>
          </p:cNvPr>
          <p:cNvSpPr>
            <a:spLocks noGrp="1"/>
          </p:cNvSpPr>
          <p:nvPr>
            <p:ph type="title"/>
          </p:nvPr>
        </p:nvSpPr>
        <p:spPr/>
        <p:txBody>
          <a:bodyPr>
            <a:normAutofit/>
          </a:bodyPr>
          <a:lstStyle/>
          <a:p>
            <a:r>
              <a:rPr lang="en-US" dirty="0"/>
              <a:t>Which tool for which state?</a:t>
            </a:r>
          </a:p>
        </p:txBody>
      </p:sp>
      <p:sp>
        <p:nvSpPr>
          <p:cNvPr id="3" name="Content Placeholder 2">
            <a:extLst>
              <a:ext uri="{FF2B5EF4-FFF2-40B4-BE49-F238E27FC236}">
                <a16:creationId xmlns:a16="http://schemas.microsoft.com/office/drawing/2014/main" id="{5D024D6C-F782-C384-5EB9-2BCB4E2E8E27}"/>
              </a:ext>
            </a:extLst>
          </p:cNvPr>
          <p:cNvSpPr>
            <a:spLocks noGrp="1"/>
          </p:cNvSpPr>
          <p:nvPr>
            <p:ph idx="1"/>
          </p:nvPr>
        </p:nvSpPr>
        <p:spPr>
          <a:xfrm>
            <a:off x="838200" y="1870843"/>
            <a:ext cx="10515600" cy="3289736"/>
          </a:xfrm>
        </p:spPr>
        <p:txBody>
          <a:bodyPr>
            <a:normAutofit/>
          </a:bodyPr>
          <a:lstStyle/>
          <a:p>
            <a:pPr marL="0" indent="0">
              <a:buNone/>
            </a:pPr>
            <a:r>
              <a:rPr lang="en-US" dirty="0" err="1"/>
              <a:t>useState</a:t>
            </a:r>
            <a:r>
              <a:rPr lang="en-US" dirty="0"/>
              <a:t> -&gt; local UI state</a:t>
            </a:r>
          </a:p>
          <a:p>
            <a:pPr marL="0" indent="0">
              <a:buNone/>
            </a:pPr>
            <a:r>
              <a:rPr lang="en-US" dirty="0"/>
              <a:t>Context -&gt; shared client state</a:t>
            </a:r>
          </a:p>
          <a:p>
            <a:pPr marL="0" indent="0">
              <a:buNone/>
            </a:pPr>
            <a:r>
              <a:rPr lang="en-US" dirty="0" err="1"/>
              <a:t>TanStack</a:t>
            </a:r>
            <a:r>
              <a:rPr lang="en-US" dirty="0"/>
              <a:t> Query -&gt; server state</a:t>
            </a:r>
          </a:p>
          <a:p>
            <a:pPr marL="0" indent="0">
              <a:buNone/>
            </a:pPr>
            <a:r>
              <a:rPr lang="en-US" dirty="0"/>
              <a:t>React Router -&gt; navigation and params</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02308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9163E-1081-E88F-87A2-ECA51F69E9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52FCD-7BB1-8A45-DB4F-53ABB15499CE}"/>
              </a:ext>
            </a:extLst>
          </p:cNvPr>
          <p:cNvSpPr>
            <a:spLocks noGrp="1"/>
          </p:cNvSpPr>
          <p:nvPr>
            <p:ph idx="1"/>
          </p:nvPr>
        </p:nvSpPr>
        <p:spPr>
          <a:xfrm>
            <a:off x="838200" y="3048000"/>
            <a:ext cx="10515600" cy="2464526"/>
          </a:xfrm>
        </p:spPr>
        <p:txBody>
          <a:bodyPr>
            <a:normAutofit/>
          </a:bodyPr>
          <a:lstStyle/>
          <a:p>
            <a:pPr marL="0" indent="0">
              <a:buNone/>
            </a:pPr>
            <a:r>
              <a:rPr lang="en-US" dirty="0"/>
              <a:t>Different problems require different tools.</a:t>
            </a:r>
            <a:endParaRPr lang="en-US" dirty="0">
              <a:latin typeface="Consolas" panose="020B0609020204030204" pitchFamily="49" charset="0"/>
              <a:cs typeface="Consolas" panose="020B0609020204030204" pitchFamily="49" charset="0"/>
            </a:endParaRPr>
          </a:p>
        </p:txBody>
      </p:sp>
      <p:sp>
        <p:nvSpPr>
          <p:cNvPr id="2" name="Title 1">
            <a:extLst>
              <a:ext uri="{FF2B5EF4-FFF2-40B4-BE49-F238E27FC236}">
                <a16:creationId xmlns:a16="http://schemas.microsoft.com/office/drawing/2014/main" id="{7E9114CF-D445-E382-C653-68207AC373BF}"/>
              </a:ext>
            </a:extLst>
          </p:cNvPr>
          <p:cNvSpPr>
            <a:spLocks noGrp="1"/>
          </p:cNvSpPr>
          <p:nvPr>
            <p:ph type="title"/>
          </p:nvPr>
        </p:nvSpPr>
        <p:spPr>
          <a:xfrm>
            <a:off x="838200" y="365126"/>
            <a:ext cx="10515600" cy="1325563"/>
          </a:xfrm>
        </p:spPr>
        <p:txBody>
          <a:bodyPr>
            <a:normAutofit/>
          </a:bodyPr>
          <a:lstStyle/>
          <a:p>
            <a:r>
              <a:rPr lang="en-US" dirty="0"/>
              <a:t>Key idea</a:t>
            </a:r>
          </a:p>
        </p:txBody>
      </p:sp>
    </p:spTree>
    <p:extLst>
      <p:ext uri="{BB962C8B-B14F-4D97-AF65-F5344CB8AC3E}">
        <p14:creationId xmlns:p14="http://schemas.microsoft.com/office/powerpoint/2010/main" val="4261240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E8DDC-5CAF-8C2E-AC71-BD16391A4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FF2E8-4E54-ED2C-0752-EE01D1D6811E}"/>
              </a:ext>
            </a:extLst>
          </p:cNvPr>
          <p:cNvSpPr>
            <a:spLocks noGrp="1"/>
          </p:cNvSpPr>
          <p:nvPr>
            <p:ph type="title"/>
          </p:nvPr>
        </p:nvSpPr>
        <p:spPr>
          <a:xfrm>
            <a:off x="838200" y="2766218"/>
            <a:ext cx="10515600" cy="1325563"/>
          </a:xfrm>
        </p:spPr>
        <p:txBody>
          <a:bodyPr/>
          <a:lstStyle/>
          <a:p>
            <a:pPr algn="ctr"/>
            <a:r>
              <a:rPr lang="en-CA" dirty="0"/>
              <a:t>Where Should Data Live?</a:t>
            </a:r>
          </a:p>
        </p:txBody>
      </p:sp>
    </p:spTree>
    <p:extLst>
      <p:ext uri="{BB962C8B-B14F-4D97-AF65-F5344CB8AC3E}">
        <p14:creationId xmlns:p14="http://schemas.microsoft.com/office/powerpoint/2010/main" val="1484660151"/>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1E31-F02A-24EC-1A0B-AEAE6DBEFD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078D6-9306-1845-24B0-8A5960706A26}"/>
              </a:ext>
            </a:extLst>
          </p:cNvPr>
          <p:cNvSpPr>
            <a:spLocks noGrp="1"/>
          </p:cNvSpPr>
          <p:nvPr>
            <p:ph idx="1"/>
          </p:nvPr>
        </p:nvSpPr>
        <p:spPr>
          <a:xfrm>
            <a:off x="838200" y="1996966"/>
            <a:ext cx="10515600" cy="3515560"/>
          </a:xfrm>
        </p:spPr>
        <p:txBody>
          <a:bodyPr>
            <a:normAutofit lnSpcReduction="10000"/>
          </a:bodyPr>
          <a:lstStyle/>
          <a:p>
            <a:pPr marL="514350" indent="-514350">
              <a:buFont typeface="+mj-lt"/>
              <a:buAutoNum type="arabicPeriod"/>
            </a:pPr>
            <a:r>
              <a:rPr lang="en-US" dirty="0"/>
              <a:t>From an API?</a:t>
            </a:r>
            <a:br>
              <a:rPr lang="en-US" dirty="0"/>
            </a:br>
            <a:r>
              <a:rPr lang="en-US" dirty="0"/>
              <a:t>-&gt; </a:t>
            </a:r>
            <a:r>
              <a:rPr lang="en-US" dirty="0" err="1"/>
              <a:t>TanStack</a:t>
            </a:r>
            <a:r>
              <a:rPr lang="en-US" dirty="0"/>
              <a:t> Query</a:t>
            </a:r>
          </a:p>
          <a:p>
            <a:pPr marL="514350" indent="-514350">
              <a:buFont typeface="+mj-lt"/>
              <a:buAutoNum type="arabicPeriod"/>
            </a:pPr>
            <a:r>
              <a:rPr lang="en-US" dirty="0"/>
              <a:t>Shared UI state?</a:t>
            </a:r>
            <a:br>
              <a:rPr lang="en-US" dirty="0"/>
            </a:br>
            <a:r>
              <a:rPr lang="en-US" dirty="0"/>
              <a:t>-&gt; Context</a:t>
            </a:r>
          </a:p>
          <a:p>
            <a:pPr marL="514350" indent="-514350">
              <a:buFont typeface="+mj-lt"/>
              <a:buAutoNum type="arabicPeriod"/>
            </a:pPr>
            <a:r>
              <a:rPr lang="en-US" dirty="0"/>
              <a:t>Local only?</a:t>
            </a:r>
            <a:br>
              <a:rPr lang="en-US" dirty="0"/>
            </a:br>
            <a:r>
              <a:rPr lang="en-US" dirty="0"/>
              <a:t>-&gt; </a:t>
            </a:r>
            <a:r>
              <a:rPr lang="en-US" dirty="0" err="1"/>
              <a:t>useState</a:t>
            </a:r>
            <a:endParaRPr lang="en-US" dirty="0"/>
          </a:p>
          <a:p>
            <a:pPr marL="514350" indent="-514350">
              <a:buFont typeface="+mj-lt"/>
              <a:buAutoNum type="arabicPeriod"/>
            </a:pPr>
            <a:r>
              <a:rPr lang="en-US" dirty="0"/>
              <a:t>Navigation?</a:t>
            </a:r>
            <a:br>
              <a:rPr lang="en-US" dirty="0"/>
            </a:br>
            <a:r>
              <a:rPr lang="en-US" dirty="0"/>
              <a:t>-&gt; React Router</a:t>
            </a:r>
            <a:endParaRPr lang="en-US" dirty="0">
              <a:latin typeface="Consolas" panose="020B0609020204030204" pitchFamily="49" charset="0"/>
              <a:cs typeface="Consolas" panose="020B0609020204030204" pitchFamily="49" charset="0"/>
            </a:endParaRPr>
          </a:p>
        </p:txBody>
      </p:sp>
      <p:sp>
        <p:nvSpPr>
          <p:cNvPr id="2" name="Title 1">
            <a:extLst>
              <a:ext uri="{FF2B5EF4-FFF2-40B4-BE49-F238E27FC236}">
                <a16:creationId xmlns:a16="http://schemas.microsoft.com/office/drawing/2014/main" id="{3EDCA288-564C-F0D9-84EF-E5B7F0E33BD7}"/>
              </a:ext>
            </a:extLst>
          </p:cNvPr>
          <p:cNvSpPr>
            <a:spLocks noGrp="1"/>
          </p:cNvSpPr>
          <p:nvPr>
            <p:ph type="title"/>
          </p:nvPr>
        </p:nvSpPr>
        <p:spPr>
          <a:xfrm>
            <a:off x="838200" y="365126"/>
            <a:ext cx="10515600" cy="1325563"/>
          </a:xfrm>
        </p:spPr>
        <p:txBody>
          <a:bodyPr>
            <a:normAutofit/>
          </a:bodyPr>
          <a:lstStyle/>
          <a:p>
            <a:r>
              <a:rPr lang="en-US" dirty="0"/>
              <a:t>Decision Questions</a:t>
            </a:r>
          </a:p>
        </p:txBody>
      </p:sp>
    </p:spTree>
    <p:extLst>
      <p:ext uri="{BB962C8B-B14F-4D97-AF65-F5344CB8AC3E}">
        <p14:creationId xmlns:p14="http://schemas.microsoft.com/office/powerpoint/2010/main" val="4114144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C8F39-EA39-A20A-1C13-0DB48068A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17161-F20A-0E94-86B0-9AAEB5F0DF1C}"/>
              </a:ext>
            </a:extLst>
          </p:cNvPr>
          <p:cNvSpPr>
            <a:spLocks noGrp="1"/>
          </p:cNvSpPr>
          <p:nvPr>
            <p:ph type="title"/>
          </p:nvPr>
        </p:nvSpPr>
        <p:spPr>
          <a:xfrm>
            <a:off x="838200" y="2766218"/>
            <a:ext cx="10515600" cy="1325563"/>
          </a:xfrm>
        </p:spPr>
        <p:txBody>
          <a:bodyPr/>
          <a:lstStyle/>
          <a:p>
            <a:pPr algn="ctr"/>
            <a:r>
              <a:rPr lang="en-CA" dirty="0"/>
              <a:t>Common Mistakes</a:t>
            </a:r>
          </a:p>
        </p:txBody>
      </p:sp>
    </p:spTree>
    <p:extLst>
      <p:ext uri="{BB962C8B-B14F-4D97-AF65-F5344CB8AC3E}">
        <p14:creationId xmlns:p14="http://schemas.microsoft.com/office/powerpoint/2010/main" val="1233260699"/>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458B-4D7A-BF7A-9F6A-4BF8EA3EEA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E8248-79D7-26D0-D9BD-A347423B2861}"/>
              </a:ext>
            </a:extLst>
          </p:cNvPr>
          <p:cNvSpPr>
            <a:spLocks noGrp="1"/>
          </p:cNvSpPr>
          <p:nvPr>
            <p:ph idx="1"/>
          </p:nvPr>
        </p:nvSpPr>
        <p:spPr>
          <a:xfrm>
            <a:off x="838200" y="3048000"/>
            <a:ext cx="10515600" cy="2464526"/>
          </a:xfrm>
        </p:spPr>
        <p:txBody>
          <a:bodyPr>
            <a:normAutofit/>
          </a:bodyPr>
          <a:lstStyle/>
          <a:p>
            <a:pPr marL="0" indent="0">
              <a:buNone/>
            </a:pPr>
            <a:r>
              <a:rPr lang="en-US" dirty="0"/>
              <a:t>Storing server data in Context</a:t>
            </a:r>
          </a:p>
        </p:txBody>
      </p:sp>
      <p:sp>
        <p:nvSpPr>
          <p:cNvPr id="2" name="Title 1">
            <a:extLst>
              <a:ext uri="{FF2B5EF4-FFF2-40B4-BE49-F238E27FC236}">
                <a16:creationId xmlns:a16="http://schemas.microsoft.com/office/drawing/2014/main" id="{935387F6-C140-F0C8-01D1-0C1C40F989AB}"/>
              </a:ext>
            </a:extLst>
          </p:cNvPr>
          <p:cNvSpPr>
            <a:spLocks noGrp="1"/>
          </p:cNvSpPr>
          <p:nvPr>
            <p:ph type="title"/>
          </p:nvPr>
        </p:nvSpPr>
        <p:spPr>
          <a:xfrm>
            <a:off x="838200" y="365126"/>
            <a:ext cx="10515600" cy="1325563"/>
          </a:xfrm>
        </p:spPr>
        <p:txBody>
          <a:bodyPr>
            <a:normAutofit/>
          </a:bodyPr>
          <a:lstStyle/>
          <a:p>
            <a:r>
              <a:rPr lang="en-US" dirty="0"/>
              <a:t>Mistake 1</a:t>
            </a:r>
          </a:p>
        </p:txBody>
      </p:sp>
    </p:spTree>
    <p:extLst>
      <p:ext uri="{BB962C8B-B14F-4D97-AF65-F5344CB8AC3E}">
        <p14:creationId xmlns:p14="http://schemas.microsoft.com/office/powerpoint/2010/main" val="1045713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D9768-B8BB-1AEA-D538-D18DEA286C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BFE643-E95A-8E85-A833-3F24CA2C5DBC}"/>
              </a:ext>
            </a:extLst>
          </p:cNvPr>
          <p:cNvSpPr>
            <a:spLocks noGrp="1"/>
          </p:cNvSpPr>
          <p:nvPr>
            <p:ph idx="1"/>
          </p:nvPr>
        </p:nvSpPr>
        <p:spPr>
          <a:xfrm>
            <a:off x="838200" y="3048000"/>
            <a:ext cx="10515600" cy="2464526"/>
          </a:xfrm>
        </p:spPr>
        <p:txBody>
          <a:bodyPr>
            <a:normAutofit/>
          </a:bodyPr>
          <a:lstStyle/>
          <a:p>
            <a:pPr marL="0" indent="0">
              <a:buNone/>
            </a:pPr>
            <a:r>
              <a:rPr lang="en-US" dirty="0"/>
              <a:t>Overusing Context</a:t>
            </a:r>
            <a:endParaRPr lang="en-US" dirty="0">
              <a:latin typeface="Consolas" panose="020B0609020204030204" pitchFamily="49" charset="0"/>
              <a:cs typeface="Consolas" panose="020B0609020204030204" pitchFamily="49" charset="0"/>
            </a:endParaRPr>
          </a:p>
        </p:txBody>
      </p:sp>
      <p:sp>
        <p:nvSpPr>
          <p:cNvPr id="2" name="Title 1">
            <a:extLst>
              <a:ext uri="{FF2B5EF4-FFF2-40B4-BE49-F238E27FC236}">
                <a16:creationId xmlns:a16="http://schemas.microsoft.com/office/drawing/2014/main" id="{1FBC415C-6716-B5DF-F21D-5C67E3C38D36}"/>
              </a:ext>
            </a:extLst>
          </p:cNvPr>
          <p:cNvSpPr>
            <a:spLocks noGrp="1"/>
          </p:cNvSpPr>
          <p:nvPr>
            <p:ph type="title"/>
          </p:nvPr>
        </p:nvSpPr>
        <p:spPr>
          <a:xfrm>
            <a:off x="838200" y="365126"/>
            <a:ext cx="10515600" cy="1325563"/>
          </a:xfrm>
        </p:spPr>
        <p:txBody>
          <a:bodyPr>
            <a:normAutofit/>
          </a:bodyPr>
          <a:lstStyle/>
          <a:p>
            <a:r>
              <a:rPr lang="en-US" dirty="0"/>
              <a:t>Mistake 2</a:t>
            </a:r>
          </a:p>
        </p:txBody>
      </p:sp>
    </p:spTree>
    <p:extLst>
      <p:ext uri="{BB962C8B-B14F-4D97-AF65-F5344CB8AC3E}">
        <p14:creationId xmlns:p14="http://schemas.microsoft.com/office/powerpoint/2010/main" val="3639527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17176-BA29-A6B4-FA31-120A153798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9B92B-BD69-A233-2C55-51F5EB3A7FBB}"/>
              </a:ext>
            </a:extLst>
          </p:cNvPr>
          <p:cNvSpPr>
            <a:spLocks noGrp="1"/>
          </p:cNvSpPr>
          <p:nvPr>
            <p:ph idx="1"/>
          </p:nvPr>
        </p:nvSpPr>
        <p:spPr>
          <a:xfrm>
            <a:off x="838200" y="2753710"/>
            <a:ext cx="10515600" cy="2464527"/>
          </a:xfrm>
        </p:spPr>
        <p:txBody>
          <a:bodyPr>
            <a:normAutofit/>
          </a:bodyPr>
          <a:lstStyle/>
          <a:p>
            <a:pPr marL="0" indent="0">
              <a:buNone/>
            </a:pPr>
            <a:r>
              <a:rPr lang="en-US" dirty="0"/>
              <a:t>Duplicating server state locally</a:t>
            </a:r>
          </a:p>
        </p:txBody>
      </p:sp>
      <p:sp>
        <p:nvSpPr>
          <p:cNvPr id="2" name="Title 1">
            <a:extLst>
              <a:ext uri="{FF2B5EF4-FFF2-40B4-BE49-F238E27FC236}">
                <a16:creationId xmlns:a16="http://schemas.microsoft.com/office/drawing/2014/main" id="{8896BA7F-6715-A130-8CE0-7CF89CC9610F}"/>
              </a:ext>
            </a:extLst>
          </p:cNvPr>
          <p:cNvSpPr>
            <a:spLocks noGrp="1"/>
          </p:cNvSpPr>
          <p:nvPr>
            <p:ph type="title"/>
          </p:nvPr>
        </p:nvSpPr>
        <p:spPr>
          <a:xfrm>
            <a:off x="838200" y="365126"/>
            <a:ext cx="10515600" cy="1325563"/>
          </a:xfrm>
        </p:spPr>
        <p:txBody>
          <a:bodyPr>
            <a:normAutofit/>
          </a:bodyPr>
          <a:lstStyle/>
          <a:p>
            <a:r>
              <a:rPr lang="en-US" dirty="0"/>
              <a:t>Mistake 3</a:t>
            </a:r>
          </a:p>
        </p:txBody>
      </p:sp>
    </p:spTree>
    <p:extLst>
      <p:ext uri="{BB962C8B-B14F-4D97-AF65-F5344CB8AC3E}">
        <p14:creationId xmlns:p14="http://schemas.microsoft.com/office/powerpoint/2010/main" val="2423362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F38F2-85E5-2E11-0EB0-1C9AB4397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DAD85-4D77-A12E-A004-B0EE9A4A24E3}"/>
              </a:ext>
            </a:extLst>
          </p:cNvPr>
          <p:cNvSpPr>
            <a:spLocks noGrp="1"/>
          </p:cNvSpPr>
          <p:nvPr>
            <p:ph type="title"/>
          </p:nvPr>
        </p:nvSpPr>
        <p:spPr/>
        <p:txBody>
          <a:bodyPr>
            <a:normAutofit/>
          </a:bodyPr>
          <a:lstStyle/>
          <a:p>
            <a:r>
              <a:rPr lang="en-US" dirty="0"/>
              <a:t>Mistake 4</a:t>
            </a:r>
          </a:p>
        </p:txBody>
      </p:sp>
      <p:sp>
        <p:nvSpPr>
          <p:cNvPr id="3" name="Content Placeholder 2">
            <a:extLst>
              <a:ext uri="{FF2B5EF4-FFF2-40B4-BE49-F238E27FC236}">
                <a16:creationId xmlns:a16="http://schemas.microsoft.com/office/drawing/2014/main" id="{8E73C553-75D8-7927-58DA-97335849D18C}"/>
              </a:ext>
            </a:extLst>
          </p:cNvPr>
          <p:cNvSpPr>
            <a:spLocks noGrp="1"/>
          </p:cNvSpPr>
          <p:nvPr>
            <p:ph idx="1"/>
          </p:nvPr>
        </p:nvSpPr>
        <p:spPr>
          <a:xfrm>
            <a:off x="838200" y="3048000"/>
            <a:ext cx="10515600" cy="2464526"/>
          </a:xfrm>
        </p:spPr>
        <p:txBody>
          <a:bodyPr>
            <a:normAutofit/>
          </a:bodyPr>
          <a:lstStyle/>
          <a:p>
            <a:pPr marL="0" indent="0">
              <a:buNone/>
            </a:pPr>
            <a:r>
              <a:rPr lang="en-US" dirty="0"/>
              <a:t>Mixing multiple data patterns</a:t>
            </a:r>
          </a:p>
        </p:txBody>
      </p:sp>
    </p:spTree>
    <p:extLst>
      <p:ext uri="{BB962C8B-B14F-4D97-AF65-F5344CB8AC3E}">
        <p14:creationId xmlns:p14="http://schemas.microsoft.com/office/powerpoint/2010/main" val="3970606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1F1-084A-F978-AD19-FC8928A6B0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43AC8-9404-3E45-2BB8-524319B1AC11}"/>
              </a:ext>
            </a:extLst>
          </p:cNvPr>
          <p:cNvSpPr>
            <a:spLocks noGrp="1"/>
          </p:cNvSpPr>
          <p:nvPr>
            <p:ph idx="1"/>
          </p:nvPr>
        </p:nvSpPr>
        <p:spPr>
          <a:xfrm>
            <a:off x="838200" y="3048000"/>
            <a:ext cx="10515600" cy="2464526"/>
          </a:xfrm>
        </p:spPr>
        <p:txBody>
          <a:bodyPr>
            <a:normAutofit/>
          </a:bodyPr>
          <a:lstStyle/>
          <a:p>
            <a:pPr marL="0" indent="0">
              <a:buNone/>
            </a:pPr>
            <a:r>
              <a:rPr lang="en-US" dirty="0"/>
              <a:t>One source of truth per type of data</a:t>
            </a:r>
          </a:p>
        </p:txBody>
      </p:sp>
      <p:sp>
        <p:nvSpPr>
          <p:cNvPr id="2" name="Title 1">
            <a:extLst>
              <a:ext uri="{FF2B5EF4-FFF2-40B4-BE49-F238E27FC236}">
                <a16:creationId xmlns:a16="http://schemas.microsoft.com/office/drawing/2014/main" id="{060C6EAF-1DC9-D8B5-DF9A-45643B5CAE91}"/>
              </a:ext>
            </a:extLst>
          </p:cNvPr>
          <p:cNvSpPr>
            <a:spLocks noGrp="1"/>
          </p:cNvSpPr>
          <p:nvPr>
            <p:ph type="title"/>
          </p:nvPr>
        </p:nvSpPr>
        <p:spPr>
          <a:xfrm>
            <a:off x="838200" y="365126"/>
            <a:ext cx="10515600" cy="1325563"/>
          </a:xfrm>
        </p:spPr>
        <p:txBody>
          <a:bodyPr>
            <a:normAutofit/>
          </a:bodyPr>
          <a:lstStyle/>
          <a:p>
            <a:r>
              <a:rPr lang="en-US" dirty="0"/>
              <a:t>Key idea</a:t>
            </a:r>
          </a:p>
        </p:txBody>
      </p:sp>
    </p:spTree>
    <p:extLst>
      <p:ext uri="{BB962C8B-B14F-4D97-AF65-F5344CB8AC3E}">
        <p14:creationId xmlns:p14="http://schemas.microsoft.com/office/powerpoint/2010/main" val="765638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FD6A8-33C1-0FE1-B3FB-80DC26B95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DD589-C011-D4D5-0E43-C77918B687CA}"/>
              </a:ext>
            </a:extLst>
          </p:cNvPr>
          <p:cNvSpPr>
            <a:spLocks noGrp="1"/>
          </p:cNvSpPr>
          <p:nvPr>
            <p:ph type="title"/>
          </p:nvPr>
        </p:nvSpPr>
        <p:spPr>
          <a:xfrm>
            <a:off x="838200" y="2766218"/>
            <a:ext cx="10515600" cy="1325563"/>
          </a:xfrm>
        </p:spPr>
        <p:txBody>
          <a:bodyPr/>
          <a:lstStyle/>
          <a:p>
            <a:pPr algn="ctr"/>
            <a:r>
              <a:rPr lang="en-CA" dirty="0"/>
              <a:t>Architecture Overview</a:t>
            </a:r>
          </a:p>
        </p:txBody>
      </p:sp>
    </p:spTree>
    <p:extLst>
      <p:ext uri="{BB962C8B-B14F-4D97-AF65-F5344CB8AC3E}">
        <p14:creationId xmlns:p14="http://schemas.microsoft.com/office/powerpoint/2010/main" val="2530571506"/>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4DF5-C5B7-AC2B-CFAC-275099BED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CA10B-6FFF-220E-56FC-BDB9B434902F}"/>
              </a:ext>
            </a:extLst>
          </p:cNvPr>
          <p:cNvSpPr>
            <a:spLocks noGrp="1"/>
          </p:cNvSpPr>
          <p:nvPr>
            <p:ph type="title"/>
          </p:nvPr>
        </p:nvSpPr>
        <p:spPr/>
        <p:txBody>
          <a:bodyPr/>
          <a:lstStyle/>
          <a:p>
            <a:r>
              <a:rPr lang="en-US" dirty="0"/>
              <a:t>Clean Structure</a:t>
            </a:r>
          </a:p>
        </p:txBody>
      </p:sp>
      <p:sp>
        <p:nvSpPr>
          <p:cNvPr id="3" name="Content Placeholder 2">
            <a:extLst>
              <a:ext uri="{FF2B5EF4-FFF2-40B4-BE49-F238E27FC236}">
                <a16:creationId xmlns:a16="http://schemas.microsoft.com/office/drawing/2014/main" id="{20A8A028-59EF-1FDB-C602-31C4B53BDD0E}"/>
              </a:ext>
            </a:extLst>
          </p:cNvPr>
          <p:cNvSpPr>
            <a:spLocks noGrp="1"/>
          </p:cNvSpPr>
          <p:nvPr>
            <p:ph idx="1"/>
          </p:nvPr>
        </p:nvSpPr>
        <p:spPr>
          <a:xfrm>
            <a:off x="838200" y="1690689"/>
            <a:ext cx="10515600" cy="3821837"/>
          </a:xfrm>
        </p:spPr>
        <p:txBody>
          <a:bodyPr>
            <a:normAutofit fontScale="70000" lnSpcReduction="20000"/>
          </a:bodyPr>
          <a:lstStyle/>
          <a:p>
            <a:pPr marL="0" indent="0">
              <a:buNone/>
            </a:pPr>
            <a:r>
              <a:rPr lang="en-US" dirty="0"/>
              <a:t>React Router:</a:t>
            </a:r>
          </a:p>
          <a:p>
            <a:r>
              <a:rPr lang="en-US" dirty="0"/>
              <a:t>navigation</a:t>
            </a:r>
          </a:p>
          <a:p>
            <a:endParaRPr lang="en-US" dirty="0"/>
          </a:p>
          <a:p>
            <a:pPr marL="0" indent="0">
              <a:buNone/>
            </a:pPr>
            <a:r>
              <a:rPr lang="en-US" dirty="0" err="1"/>
              <a:t>TanStack</a:t>
            </a:r>
            <a:r>
              <a:rPr lang="en-US" dirty="0"/>
              <a:t> Query:</a:t>
            </a:r>
          </a:p>
          <a:p>
            <a:r>
              <a:rPr lang="en-US" dirty="0"/>
              <a:t>server data</a:t>
            </a:r>
          </a:p>
          <a:p>
            <a:endParaRPr lang="en-US" dirty="0"/>
          </a:p>
          <a:p>
            <a:pPr marL="0" indent="0">
              <a:buNone/>
            </a:pPr>
            <a:r>
              <a:rPr lang="en-US" dirty="0"/>
              <a:t>Context:</a:t>
            </a:r>
          </a:p>
          <a:p>
            <a:r>
              <a:rPr lang="en-US" dirty="0"/>
              <a:t>shared UI state</a:t>
            </a:r>
          </a:p>
          <a:p>
            <a:endParaRPr lang="en-US" dirty="0"/>
          </a:p>
          <a:p>
            <a:pPr marL="0" indent="0">
              <a:buNone/>
            </a:pPr>
            <a:r>
              <a:rPr lang="en-US" dirty="0" err="1"/>
              <a:t>useState</a:t>
            </a:r>
            <a:r>
              <a:rPr lang="en-US" dirty="0"/>
              <a:t>:</a:t>
            </a:r>
          </a:p>
          <a:p>
            <a:r>
              <a:rPr lang="en-US" dirty="0"/>
              <a:t>local state</a:t>
            </a:r>
          </a:p>
        </p:txBody>
      </p:sp>
    </p:spTree>
    <p:extLst>
      <p:ext uri="{BB962C8B-B14F-4D97-AF65-F5344CB8AC3E}">
        <p14:creationId xmlns:p14="http://schemas.microsoft.com/office/powerpoint/2010/main" val="1209829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3F09-9F47-B532-ED3D-9B97E889A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4C474-142C-BE2E-7648-6CE7D7678E6F}"/>
              </a:ext>
            </a:extLst>
          </p:cNvPr>
          <p:cNvSpPr>
            <a:spLocks noGrp="1"/>
          </p:cNvSpPr>
          <p:nvPr>
            <p:ph type="title"/>
          </p:nvPr>
        </p:nvSpPr>
        <p:spPr/>
        <p:txBody>
          <a:bodyPr/>
          <a:lstStyle/>
          <a:p>
            <a:r>
              <a:rPr lang="en-US" dirty="0"/>
              <a:t>Key takeaway</a:t>
            </a:r>
            <a:endParaRPr lang="en-US" dirty="0">
              <a:latin typeface="Consolas" panose="020B0609020204030204" pitchFamily="49" charset="0"/>
              <a:cs typeface="Consolas" panose="020B0609020204030204" pitchFamily="49" charset="0"/>
            </a:endParaRPr>
          </a:p>
        </p:txBody>
      </p:sp>
      <p:sp>
        <p:nvSpPr>
          <p:cNvPr id="3" name="Content Placeholder 2">
            <a:extLst>
              <a:ext uri="{FF2B5EF4-FFF2-40B4-BE49-F238E27FC236}">
                <a16:creationId xmlns:a16="http://schemas.microsoft.com/office/drawing/2014/main" id="{C8754EE6-6A91-62DA-C31C-991E665AFC5B}"/>
              </a:ext>
            </a:extLst>
          </p:cNvPr>
          <p:cNvSpPr>
            <a:spLocks noGrp="1"/>
          </p:cNvSpPr>
          <p:nvPr>
            <p:ph idx="1"/>
          </p:nvPr>
        </p:nvSpPr>
        <p:spPr>
          <a:xfrm>
            <a:off x="838200" y="3090041"/>
            <a:ext cx="10515600" cy="2422485"/>
          </a:xfrm>
        </p:spPr>
        <p:txBody>
          <a:bodyPr>
            <a:normAutofit/>
          </a:bodyPr>
          <a:lstStyle/>
          <a:p>
            <a:pPr marL="0" indent="0">
              <a:buNone/>
            </a:pPr>
            <a:r>
              <a:rPr lang="en-US" sz="2400" dirty="0"/>
              <a:t>Separate responsibilities clearly</a:t>
            </a:r>
          </a:p>
        </p:txBody>
      </p:sp>
    </p:spTree>
    <p:extLst>
      <p:ext uri="{BB962C8B-B14F-4D97-AF65-F5344CB8AC3E}">
        <p14:creationId xmlns:p14="http://schemas.microsoft.com/office/powerpoint/2010/main" val="3302467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9BB5-66C3-BD9B-A70C-B3B0E3966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85B8E-CFB5-5DB8-9F62-98193E27C5F8}"/>
              </a:ext>
            </a:extLst>
          </p:cNvPr>
          <p:cNvSpPr>
            <a:spLocks noGrp="1"/>
          </p:cNvSpPr>
          <p:nvPr>
            <p:ph type="title"/>
          </p:nvPr>
        </p:nvSpPr>
        <p:spPr>
          <a:xfrm>
            <a:off x="838200" y="2766218"/>
            <a:ext cx="10515600" cy="1325563"/>
          </a:xfrm>
        </p:spPr>
        <p:txBody>
          <a:bodyPr/>
          <a:lstStyle/>
          <a:p>
            <a:pPr algn="ctr"/>
            <a:r>
              <a:rPr lang="en-CA" dirty="0"/>
              <a:t>Example Decisions</a:t>
            </a:r>
          </a:p>
        </p:txBody>
      </p:sp>
    </p:spTree>
    <p:extLst>
      <p:ext uri="{BB962C8B-B14F-4D97-AF65-F5344CB8AC3E}">
        <p14:creationId xmlns:p14="http://schemas.microsoft.com/office/powerpoint/2010/main" val="3204336034"/>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E6AC7-34C7-391E-DA78-E8EA51614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A3DC8-1C6A-DAF3-893D-045A9B9FCC33}"/>
              </a:ext>
            </a:extLst>
          </p:cNvPr>
          <p:cNvSpPr>
            <a:spLocks noGrp="1"/>
          </p:cNvSpPr>
          <p:nvPr>
            <p:ph type="title"/>
          </p:nvPr>
        </p:nvSpPr>
        <p:spPr/>
        <p:txBody>
          <a:bodyPr/>
          <a:lstStyle/>
          <a:p>
            <a:r>
              <a:rPr lang="en-US" dirty="0"/>
              <a:t>Theme toggle</a:t>
            </a:r>
          </a:p>
        </p:txBody>
      </p:sp>
      <p:sp>
        <p:nvSpPr>
          <p:cNvPr id="3" name="Content Placeholder 2">
            <a:extLst>
              <a:ext uri="{FF2B5EF4-FFF2-40B4-BE49-F238E27FC236}">
                <a16:creationId xmlns:a16="http://schemas.microsoft.com/office/drawing/2014/main" id="{9F1A30DD-2499-4961-106A-AF0B0B50BCAD}"/>
              </a:ext>
            </a:extLst>
          </p:cNvPr>
          <p:cNvSpPr>
            <a:spLocks noGrp="1"/>
          </p:cNvSpPr>
          <p:nvPr>
            <p:ph idx="1"/>
          </p:nvPr>
        </p:nvSpPr>
        <p:spPr>
          <a:xfrm>
            <a:off x="838200" y="3048000"/>
            <a:ext cx="10515600" cy="2464526"/>
          </a:xfrm>
        </p:spPr>
        <p:txBody>
          <a:bodyPr>
            <a:normAutofit/>
          </a:bodyPr>
          <a:lstStyle/>
          <a:p>
            <a:pPr marL="0" indent="0">
              <a:buNone/>
            </a:pPr>
            <a:r>
              <a:rPr lang="en-US" dirty="0"/>
              <a:t>-&gt; Context</a:t>
            </a:r>
          </a:p>
        </p:txBody>
      </p:sp>
    </p:spTree>
    <p:extLst>
      <p:ext uri="{BB962C8B-B14F-4D97-AF65-F5344CB8AC3E}">
        <p14:creationId xmlns:p14="http://schemas.microsoft.com/office/powerpoint/2010/main" val="1346575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28D07-9C0A-212F-E672-573F73B89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2DE04-E2AD-DE52-5B46-79560BBFF663}"/>
              </a:ext>
            </a:extLst>
          </p:cNvPr>
          <p:cNvSpPr>
            <a:spLocks noGrp="1"/>
          </p:cNvSpPr>
          <p:nvPr>
            <p:ph type="title"/>
          </p:nvPr>
        </p:nvSpPr>
        <p:spPr/>
        <p:txBody>
          <a:bodyPr/>
          <a:lstStyle/>
          <a:p>
            <a:r>
              <a:rPr lang="en-US" dirty="0"/>
              <a:t>Data list</a:t>
            </a:r>
          </a:p>
        </p:txBody>
      </p:sp>
      <p:sp>
        <p:nvSpPr>
          <p:cNvPr id="3" name="Content Placeholder 2">
            <a:extLst>
              <a:ext uri="{FF2B5EF4-FFF2-40B4-BE49-F238E27FC236}">
                <a16:creationId xmlns:a16="http://schemas.microsoft.com/office/drawing/2014/main" id="{0F7028C9-9414-0BD3-EE40-D4B26590ACED}"/>
              </a:ext>
            </a:extLst>
          </p:cNvPr>
          <p:cNvSpPr>
            <a:spLocks noGrp="1"/>
          </p:cNvSpPr>
          <p:nvPr>
            <p:ph idx="1"/>
          </p:nvPr>
        </p:nvSpPr>
        <p:spPr>
          <a:xfrm>
            <a:off x="838200" y="3048000"/>
            <a:ext cx="10515600" cy="2464526"/>
          </a:xfrm>
        </p:spPr>
        <p:txBody>
          <a:bodyPr>
            <a:normAutofit/>
          </a:bodyPr>
          <a:lstStyle/>
          <a:p>
            <a:pPr marL="0" indent="0">
              <a:buNone/>
            </a:pPr>
            <a:r>
              <a:rPr lang="en-US" dirty="0"/>
              <a:t>-&gt; </a:t>
            </a:r>
            <a:r>
              <a:rPr lang="en-US" dirty="0" err="1"/>
              <a:t>TanStack</a:t>
            </a:r>
            <a:r>
              <a:rPr lang="en-US" dirty="0"/>
              <a:t> Query</a:t>
            </a:r>
          </a:p>
        </p:txBody>
      </p:sp>
    </p:spTree>
    <p:extLst>
      <p:ext uri="{BB962C8B-B14F-4D97-AF65-F5344CB8AC3E}">
        <p14:creationId xmlns:p14="http://schemas.microsoft.com/office/powerpoint/2010/main" val="762327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E0CB6-4F87-BC2A-3FD5-BCB3A3A2D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0A497-7A31-45E8-D451-B5B7004B47F7}"/>
              </a:ext>
            </a:extLst>
          </p:cNvPr>
          <p:cNvSpPr>
            <a:spLocks noGrp="1"/>
          </p:cNvSpPr>
          <p:nvPr>
            <p:ph type="title"/>
          </p:nvPr>
        </p:nvSpPr>
        <p:spPr/>
        <p:txBody>
          <a:bodyPr/>
          <a:lstStyle/>
          <a:p>
            <a:r>
              <a:rPr lang="en-US" dirty="0"/>
              <a:t>Selected data</a:t>
            </a:r>
          </a:p>
        </p:txBody>
      </p:sp>
      <p:sp>
        <p:nvSpPr>
          <p:cNvPr id="3" name="Content Placeholder 2">
            <a:extLst>
              <a:ext uri="{FF2B5EF4-FFF2-40B4-BE49-F238E27FC236}">
                <a16:creationId xmlns:a16="http://schemas.microsoft.com/office/drawing/2014/main" id="{24C8FB31-2570-DDEF-B755-77F8CC7DD43A}"/>
              </a:ext>
            </a:extLst>
          </p:cNvPr>
          <p:cNvSpPr>
            <a:spLocks noGrp="1"/>
          </p:cNvSpPr>
          <p:nvPr>
            <p:ph idx="1"/>
          </p:nvPr>
        </p:nvSpPr>
        <p:spPr>
          <a:xfrm>
            <a:off x="838200" y="3048000"/>
            <a:ext cx="10515600" cy="2464526"/>
          </a:xfrm>
        </p:spPr>
        <p:txBody>
          <a:bodyPr>
            <a:normAutofit/>
          </a:bodyPr>
          <a:lstStyle/>
          <a:p>
            <a:r>
              <a:rPr lang="en-US" dirty="0"/>
              <a:t>-&gt; </a:t>
            </a:r>
            <a:r>
              <a:rPr lang="en-US" dirty="0" err="1"/>
              <a:t>useState</a:t>
            </a:r>
            <a:r>
              <a:rPr lang="en-US" dirty="0"/>
              <a:t> or Context</a:t>
            </a:r>
          </a:p>
        </p:txBody>
      </p:sp>
    </p:spTree>
    <p:extLst>
      <p:ext uri="{BB962C8B-B14F-4D97-AF65-F5344CB8AC3E}">
        <p14:creationId xmlns:p14="http://schemas.microsoft.com/office/powerpoint/2010/main" val="2517541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FA57-10D5-A117-3A1B-B373D87DA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FBDEC-071A-F79E-5076-DA7D7D94EB62}"/>
              </a:ext>
            </a:extLst>
          </p:cNvPr>
          <p:cNvSpPr>
            <a:spLocks noGrp="1"/>
          </p:cNvSpPr>
          <p:nvPr>
            <p:ph type="title"/>
          </p:nvPr>
        </p:nvSpPr>
        <p:spPr/>
        <p:txBody>
          <a:bodyPr/>
          <a:lstStyle/>
          <a:p>
            <a:r>
              <a:rPr lang="en-US" dirty="0"/>
              <a:t>Form input</a:t>
            </a:r>
          </a:p>
        </p:txBody>
      </p:sp>
      <p:sp>
        <p:nvSpPr>
          <p:cNvPr id="3" name="Content Placeholder 2">
            <a:extLst>
              <a:ext uri="{FF2B5EF4-FFF2-40B4-BE49-F238E27FC236}">
                <a16:creationId xmlns:a16="http://schemas.microsoft.com/office/drawing/2014/main" id="{FF50A478-3982-31CF-B727-5AA691D8809D}"/>
              </a:ext>
            </a:extLst>
          </p:cNvPr>
          <p:cNvSpPr>
            <a:spLocks noGrp="1"/>
          </p:cNvSpPr>
          <p:nvPr>
            <p:ph idx="1"/>
          </p:nvPr>
        </p:nvSpPr>
        <p:spPr>
          <a:xfrm>
            <a:off x="838200" y="3048000"/>
            <a:ext cx="10515600" cy="2464526"/>
          </a:xfrm>
        </p:spPr>
        <p:txBody>
          <a:bodyPr>
            <a:normAutofit/>
          </a:bodyPr>
          <a:lstStyle/>
          <a:p>
            <a:pPr marL="0" indent="0">
              <a:buNone/>
            </a:pPr>
            <a:r>
              <a:rPr lang="en-US" dirty="0"/>
              <a:t>-&gt; </a:t>
            </a:r>
            <a:r>
              <a:rPr lang="en-US" dirty="0" err="1"/>
              <a:t>useState</a:t>
            </a:r>
            <a:endParaRPr lang="en-US" dirty="0"/>
          </a:p>
        </p:txBody>
      </p:sp>
    </p:spTree>
    <p:extLst>
      <p:ext uri="{BB962C8B-B14F-4D97-AF65-F5344CB8AC3E}">
        <p14:creationId xmlns:p14="http://schemas.microsoft.com/office/powerpoint/2010/main" val="2494333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9E497-0B96-A988-B0F7-8671A8753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D4F01-BCF7-C81D-4DF6-ED373D112392}"/>
              </a:ext>
            </a:extLst>
          </p:cNvPr>
          <p:cNvSpPr>
            <a:spLocks noGrp="1"/>
          </p:cNvSpPr>
          <p:nvPr>
            <p:ph type="title"/>
          </p:nvPr>
        </p:nvSpPr>
        <p:spPr/>
        <p:txBody>
          <a:bodyPr/>
          <a:lstStyle/>
          <a:p>
            <a:r>
              <a:rPr lang="en-CA" b="1" dirty="0"/>
              <a:t>Hands-on Practice</a:t>
            </a:r>
            <a:endParaRPr lang="en-CA" dirty="0"/>
          </a:p>
        </p:txBody>
      </p:sp>
      <p:sp>
        <p:nvSpPr>
          <p:cNvPr id="3" name="Content Placeholder 2">
            <a:extLst>
              <a:ext uri="{FF2B5EF4-FFF2-40B4-BE49-F238E27FC236}">
                <a16:creationId xmlns:a16="http://schemas.microsoft.com/office/drawing/2014/main" id="{981A23C2-1004-2B1E-AEF1-B53F9E21EEE8}"/>
              </a:ext>
            </a:extLst>
          </p:cNvPr>
          <p:cNvSpPr>
            <a:spLocks noGrp="1"/>
          </p:cNvSpPr>
          <p:nvPr>
            <p:ph idx="1"/>
          </p:nvPr>
        </p:nvSpPr>
        <p:spPr/>
        <p:txBody>
          <a:bodyPr>
            <a:normAutofit fontScale="85000" lnSpcReduction="10000"/>
          </a:bodyPr>
          <a:lstStyle/>
          <a:p>
            <a:pPr marL="0" indent="0">
              <a:buNone/>
            </a:pPr>
            <a:r>
              <a:rPr lang="en-CA" dirty="0"/>
              <a:t>Exercise: Navigate your existing example project and identify all types of state that have been implemented. Explore additional options or places in the app where state could be applied or has been misapplied.</a:t>
            </a:r>
          </a:p>
          <a:p>
            <a:pPr marL="0" indent="0">
              <a:buNone/>
            </a:pPr>
            <a:r>
              <a:rPr lang="en-CA" b="1" dirty="0"/>
              <a:t>Objective: </a:t>
            </a:r>
            <a:r>
              <a:rPr lang="en-CA" dirty="0"/>
              <a:t>Explain the differences between different state management options.</a:t>
            </a:r>
          </a:p>
          <a:p>
            <a:pPr marL="0" indent="0">
              <a:buNone/>
            </a:pPr>
            <a:endParaRPr lang="en-CA" dirty="0"/>
          </a:p>
          <a:p>
            <a:r>
              <a:rPr lang="en-CA" dirty="0"/>
              <a:t>Obtain the exercise starter files</a:t>
            </a:r>
          </a:p>
          <a:p>
            <a:pPr marL="971527" lvl="1" indent="-514350">
              <a:buFont typeface="+mj-lt"/>
              <a:buAutoNum type="arabicPeriod"/>
            </a:pPr>
            <a:r>
              <a:rPr lang="en-CA" dirty="0"/>
              <a:t>Open your existing example project.</a:t>
            </a:r>
          </a:p>
          <a:p>
            <a:pPr marL="971527" lvl="1" indent="-514350">
              <a:buFont typeface="+mj-lt"/>
              <a:buAutoNum type="arabicPeriod"/>
            </a:pPr>
            <a:r>
              <a:rPr lang="en-CA" dirty="0"/>
              <a:t>Review the content in the README file.</a:t>
            </a:r>
          </a:p>
          <a:p>
            <a:pPr marL="971527" lvl="1" indent="-514350">
              <a:buFont typeface="+mj-lt"/>
              <a:buAutoNum type="arabicPeriod"/>
            </a:pPr>
            <a:r>
              <a:rPr lang="en-CA" dirty="0"/>
              <a:t>Ask questions if you are unsure of what to do or how the code works.</a:t>
            </a:r>
          </a:p>
          <a:p>
            <a:pPr marL="971527" lvl="1" indent="-514350">
              <a:buFont typeface="+mj-lt"/>
              <a:buAutoNum type="arabicPeriod"/>
            </a:pPr>
            <a:endParaRPr lang="en-CA" dirty="0"/>
          </a:p>
          <a:p>
            <a:endParaRPr lang="en-CA" dirty="0"/>
          </a:p>
        </p:txBody>
      </p:sp>
    </p:spTree>
    <p:extLst>
      <p:ext uri="{BB962C8B-B14F-4D97-AF65-F5344CB8AC3E}">
        <p14:creationId xmlns:p14="http://schemas.microsoft.com/office/powerpoint/2010/main" val="98885256"/>
      </p:ext>
    </p:extLst>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D267-295B-8BC6-526B-F7AF72936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88993-A1E9-DD98-6466-3FA55B3B851D}"/>
              </a:ext>
            </a:extLst>
          </p:cNvPr>
          <p:cNvSpPr>
            <a:spLocks noGrp="1"/>
          </p:cNvSpPr>
          <p:nvPr>
            <p:ph type="title"/>
          </p:nvPr>
        </p:nvSpPr>
        <p:spPr>
          <a:xfrm>
            <a:off x="838200" y="2766218"/>
            <a:ext cx="10515600" cy="1325563"/>
          </a:xfrm>
        </p:spPr>
        <p:txBody>
          <a:bodyPr/>
          <a:lstStyle/>
          <a:p>
            <a:pPr algn="ctr"/>
            <a:r>
              <a:rPr lang="en-CA" dirty="0"/>
              <a:t>Quick Poll</a:t>
            </a:r>
          </a:p>
        </p:txBody>
      </p:sp>
    </p:spTree>
    <p:extLst>
      <p:ext uri="{BB962C8B-B14F-4D97-AF65-F5344CB8AC3E}">
        <p14:creationId xmlns:p14="http://schemas.microsoft.com/office/powerpoint/2010/main" val="412320587"/>
      </p:ext>
    </p:extLst>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9F378-947C-7BA3-AFE0-EFB3BB840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65DB5-5309-A725-8C04-D7ACAF3345ED}"/>
              </a:ext>
            </a:extLst>
          </p:cNvPr>
          <p:cNvSpPr>
            <a:spLocks noGrp="1"/>
          </p:cNvSpPr>
          <p:nvPr>
            <p:ph type="title"/>
          </p:nvPr>
        </p:nvSpPr>
        <p:spPr/>
        <p:txBody>
          <a:bodyPr/>
          <a:lstStyle/>
          <a:p>
            <a:r>
              <a:rPr lang="en-US" dirty="0"/>
              <a:t>Which tool should manage API data?</a:t>
            </a:r>
          </a:p>
        </p:txBody>
      </p:sp>
      <p:sp>
        <p:nvSpPr>
          <p:cNvPr id="3" name="Content Placeholder 2">
            <a:extLst>
              <a:ext uri="{FF2B5EF4-FFF2-40B4-BE49-F238E27FC236}">
                <a16:creationId xmlns:a16="http://schemas.microsoft.com/office/drawing/2014/main" id="{B5651A40-7173-1A79-5623-9E424F676C64}"/>
              </a:ext>
            </a:extLst>
          </p:cNvPr>
          <p:cNvSpPr>
            <a:spLocks noGrp="1"/>
          </p:cNvSpPr>
          <p:nvPr>
            <p:ph idx="1"/>
          </p:nvPr>
        </p:nvSpPr>
        <p:spPr/>
        <p:txBody>
          <a:bodyPr>
            <a:normAutofit/>
          </a:bodyPr>
          <a:lstStyle/>
          <a:p>
            <a:pPr marL="514350" indent="-514350">
              <a:buFont typeface="+mj-lt"/>
              <a:buAutoNum type="alphaUcPeriod"/>
            </a:pPr>
            <a:r>
              <a:rPr lang="en-US" dirty="0" err="1"/>
              <a:t>useState</a:t>
            </a:r>
            <a:endParaRPr lang="en-US" dirty="0"/>
          </a:p>
          <a:p>
            <a:pPr marL="514350" indent="-514350">
              <a:buFont typeface="+mj-lt"/>
              <a:buAutoNum type="alphaUcPeriod"/>
            </a:pPr>
            <a:r>
              <a:rPr lang="en-US" dirty="0"/>
              <a:t>Context</a:t>
            </a:r>
          </a:p>
          <a:p>
            <a:pPr marL="514350" indent="-514350">
              <a:buFont typeface="+mj-lt"/>
              <a:buAutoNum type="alphaUcPeriod"/>
            </a:pPr>
            <a:r>
              <a:rPr lang="en-US" dirty="0" err="1"/>
              <a:t>TanStack</a:t>
            </a:r>
            <a:r>
              <a:rPr lang="en-US" dirty="0"/>
              <a:t> Query</a:t>
            </a:r>
          </a:p>
          <a:p>
            <a:pPr marL="514350" indent="-514350">
              <a:buFont typeface="+mj-lt"/>
              <a:buAutoNum type="alphaUcPeriod"/>
            </a:pPr>
            <a:r>
              <a:rPr lang="en-US" dirty="0"/>
              <a:t>React Router</a:t>
            </a:r>
          </a:p>
        </p:txBody>
      </p:sp>
    </p:spTree>
    <p:extLst>
      <p:ext uri="{BB962C8B-B14F-4D97-AF65-F5344CB8AC3E}">
        <p14:creationId xmlns:p14="http://schemas.microsoft.com/office/powerpoint/2010/main" val="821963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7F87A-EC3B-6F87-073F-5EA32E945DDB}"/>
              </a:ext>
            </a:extLst>
          </p:cNvPr>
          <p:cNvSpPr>
            <a:spLocks noGrp="1"/>
          </p:cNvSpPr>
          <p:nvPr>
            <p:ph type="title"/>
          </p:nvPr>
        </p:nvSpPr>
        <p:spPr/>
        <p:txBody>
          <a:bodyPr/>
          <a:lstStyle/>
          <a:p>
            <a:r>
              <a:rPr lang="en-US" dirty="0"/>
              <a:t>Lesson Summary</a:t>
            </a:r>
          </a:p>
        </p:txBody>
      </p:sp>
      <p:sp>
        <p:nvSpPr>
          <p:cNvPr id="3" name="Content Placeholder 2">
            <a:extLst>
              <a:ext uri="{FF2B5EF4-FFF2-40B4-BE49-F238E27FC236}">
                <a16:creationId xmlns:a16="http://schemas.microsoft.com/office/drawing/2014/main" id="{2A7FA4A7-5289-6F66-D4CE-FCD9F7DE87A5}"/>
              </a:ext>
            </a:extLst>
          </p:cNvPr>
          <p:cNvSpPr>
            <a:spLocks noGrp="1"/>
          </p:cNvSpPr>
          <p:nvPr>
            <p:ph idx="1"/>
          </p:nvPr>
        </p:nvSpPr>
        <p:spPr/>
        <p:txBody>
          <a:bodyPr>
            <a:normAutofit lnSpcReduction="10000"/>
          </a:bodyPr>
          <a:lstStyle/>
          <a:p>
            <a:r>
              <a:rPr lang="en-US" dirty="0"/>
              <a:t>In this lesson, we covered the following:</a:t>
            </a:r>
          </a:p>
          <a:p>
            <a:endParaRPr lang="en-US" dirty="0"/>
          </a:p>
          <a:p>
            <a:pPr marL="971527" lvl="1" indent="-514350">
              <a:buFont typeface="+mj-lt"/>
              <a:buAutoNum type="arabicPeriod"/>
            </a:pPr>
            <a:r>
              <a:rPr lang="en-US" dirty="0"/>
              <a:t>Identify different types of state</a:t>
            </a:r>
          </a:p>
          <a:p>
            <a:pPr marL="971527" lvl="1" indent="-514350">
              <a:buFont typeface="+mj-lt"/>
              <a:buAutoNum type="arabicPeriod"/>
            </a:pPr>
            <a:r>
              <a:rPr lang="en-US" dirty="0"/>
              <a:t>Map tools to state types</a:t>
            </a:r>
          </a:p>
          <a:p>
            <a:pPr marL="971527" lvl="1" indent="-514350">
              <a:buFont typeface="+mj-lt"/>
              <a:buAutoNum type="arabicPeriod"/>
            </a:pPr>
            <a:r>
              <a:rPr lang="en-US" dirty="0"/>
              <a:t>Explain when to use each approach</a:t>
            </a:r>
          </a:p>
          <a:p>
            <a:pPr marL="971527" lvl="1" indent="-514350">
              <a:buFont typeface="+mj-lt"/>
              <a:buAutoNum type="arabicPeriod"/>
            </a:pPr>
            <a:r>
              <a:rPr lang="en-US" dirty="0"/>
              <a:t>Recognize common state management mistakes</a:t>
            </a:r>
          </a:p>
          <a:p>
            <a:pPr marL="971527" lvl="1" indent="-514350">
              <a:buFont typeface="+mj-lt"/>
              <a:buAutoNum type="arabicPeriod"/>
            </a:pPr>
            <a:r>
              <a:rPr lang="en-US" dirty="0"/>
              <a:t>Apply a decision framework to real scenarios</a:t>
            </a:r>
          </a:p>
          <a:p>
            <a:pPr marL="971527" lvl="1" indent="-514350">
              <a:buFont typeface="+mj-lt"/>
              <a:buAutoNum type="arabicPeriod"/>
            </a:pPr>
            <a:endParaRPr lang="en-US" dirty="0"/>
          </a:p>
          <a:p>
            <a:r>
              <a:rPr lang="en-US" dirty="0"/>
              <a:t>Complete the lesson 25 checklist</a:t>
            </a:r>
          </a:p>
        </p:txBody>
      </p:sp>
    </p:spTree>
    <p:extLst>
      <p:ext uri="{BB962C8B-B14F-4D97-AF65-F5344CB8AC3E}">
        <p14:creationId xmlns:p14="http://schemas.microsoft.com/office/powerpoint/2010/main" val="3415758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17D3-7614-08E1-2AAC-01DF58360395}"/>
              </a:ext>
            </a:extLst>
          </p:cNvPr>
          <p:cNvSpPr>
            <a:spLocks noGrp="1"/>
          </p:cNvSpPr>
          <p:nvPr>
            <p:ph type="title"/>
          </p:nvPr>
        </p:nvSpPr>
        <p:spPr/>
        <p:txBody>
          <a:bodyPr/>
          <a:lstStyle/>
          <a:p>
            <a:r>
              <a:rPr lang="en-US" dirty="0"/>
              <a:t>Exit Ticket</a:t>
            </a:r>
            <a:endParaRPr lang="en-CA" dirty="0"/>
          </a:p>
        </p:txBody>
      </p:sp>
      <p:sp>
        <p:nvSpPr>
          <p:cNvPr id="3" name="Content Placeholder 2">
            <a:extLst>
              <a:ext uri="{FF2B5EF4-FFF2-40B4-BE49-F238E27FC236}">
                <a16:creationId xmlns:a16="http://schemas.microsoft.com/office/drawing/2014/main" id="{D0E3BE39-AE9E-C416-EC64-744B7883BBD1}"/>
              </a:ext>
            </a:extLst>
          </p:cNvPr>
          <p:cNvSpPr>
            <a:spLocks noGrp="1"/>
          </p:cNvSpPr>
          <p:nvPr>
            <p:ph idx="1"/>
          </p:nvPr>
        </p:nvSpPr>
        <p:spPr/>
        <p:txBody>
          <a:bodyPr>
            <a:normAutofit/>
          </a:bodyPr>
          <a:lstStyle/>
          <a:p>
            <a:pPr marL="0" indent="0">
              <a:buNone/>
            </a:pPr>
            <a:r>
              <a:rPr lang="en-US" dirty="0"/>
              <a:t>Explain:</a:t>
            </a:r>
          </a:p>
          <a:p>
            <a:pPr marL="0" indent="0">
              <a:buNone/>
            </a:pPr>
            <a:endParaRPr lang="en-US" dirty="0"/>
          </a:p>
          <a:p>
            <a:pPr marL="514350" indent="-514350">
              <a:buFont typeface="+mj-lt"/>
              <a:buAutoNum type="arabicPeriod"/>
            </a:pPr>
            <a:r>
              <a:rPr lang="en-US" dirty="0"/>
              <a:t>The three types of state</a:t>
            </a:r>
          </a:p>
          <a:p>
            <a:pPr marL="514350" indent="-514350">
              <a:buFont typeface="+mj-lt"/>
              <a:buAutoNum type="arabicPeriod"/>
            </a:pPr>
            <a:r>
              <a:rPr lang="en-US" dirty="0"/>
              <a:t>Which tool manages server state</a:t>
            </a:r>
          </a:p>
          <a:p>
            <a:pPr marL="514350" indent="-514350">
              <a:buFont typeface="+mj-lt"/>
              <a:buAutoNum type="arabicPeriod"/>
            </a:pPr>
            <a:r>
              <a:rPr lang="en-US" dirty="0"/>
              <a:t>One common mistake</a:t>
            </a:r>
          </a:p>
          <a:p>
            <a:pPr marL="514350" indent="-514350">
              <a:buFont typeface="+mj-lt"/>
              <a:buAutoNum type="arabicPeriod"/>
            </a:pPr>
            <a:r>
              <a:rPr lang="en-US" dirty="0"/>
              <a:t>How to decide which tool to use</a:t>
            </a:r>
          </a:p>
        </p:txBody>
      </p:sp>
    </p:spTree>
    <p:extLst>
      <p:ext uri="{BB962C8B-B14F-4D97-AF65-F5344CB8AC3E}">
        <p14:creationId xmlns:p14="http://schemas.microsoft.com/office/powerpoint/2010/main" val="1481093830"/>
      </p:ext>
    </p:extLst>
  </p:cSld>
  <p:clrMapOvr>
    <a:masterClrMapping/>
  </p:clrMapOvr>
  <p:transition spd="med">
    <p:pull/>
  </p:transition>
</p:sld>
</file>

<file path=ppt/theme/theme1.xml><?xml version="1.0" encoding="utf-8"?>
<a:theme xmlns:a="http://schemas.openxmlformats.org/drawingml/2006/main" name="Day N - PPT 1">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Day N - PPT 1</Template>
  <TotalTime>17353</TotalTime>
  <Words>482</Words>
  <Application>Microsoft Macintosh PowerPoint</Application>
  <PresentationFormat>Widescreen</PresentationFormat>
  <Paragraphs>141</Paragraphs>
  <Slides>35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Arial</vt:lpstr>
      <vt:lpstr>Consolas</vt:lpstr>
      <vt:lpstr>Day N - PPT 1</vt:lpstr>
      <vt:lpstr>SDEV2150</vt:lpstr>
      <vt:lpstr>Lesson Objectives</vt:lpstr>
      <vt:lpstr>Agenda</vt:lpstr>
      <vt:lpstr>Connecting</vt:lpstr>
      <vt:lpstr>What have we learned?</vt:lpstr>
      <vt:lpstr>The problem</vt:lpstr>
      <vt:lpstr>Key question</vt:lpstr>
      <vt:lpstr>Types of State</vt:lpstr>
      <vt:lpstr>Local UI State</vt:lpstr>
      <vt:lpstr>Shared Client State</vt:lpstr>
      <vt:lpstr>Server State</vt:lpstr>
      <vt:lpstr>Tool Mapping</vt:lpstr>
      <vt:lpstr>Which tool for which state?</vt:lpstr>
      <vt:lpstr>Key idea</vt:lpstr>
      <vt:lpstr>Where Should Data Live?</vt:lpstr>
      <vt:lpstr>Decision Questions</vt:lpstr>
      <vt:lpstr>Common Mistakes</vt:lpstr>
      <vt:lpstr>Mistake 1</vt:lpstr>
      <vt:lpstr>Mistake 2</vt:lpstr>
      <vt:lpstr>Mistake 3</vt:lpstr>
      <vt:lpstr>Mistake 4</vt:lpstr>
      <vt:lpstr>Key idea</vt:lpstr>
      <vt:lpstr>Architecture Overview</vt:lpstr>
      <vt:lpstr>Clean Structure</vt:lpstr>
      <vt:lpstr>Key takeaway</vt:lpstr>
      <vt:lpstr>Example Decisions</vt:lpstr>
      <vt:lpstr>Theme toggle</vt:lpstr>
      <vt:lpstr>Data list</vt:lpstr>
      <vt:lpstr>Selected data</vt:lpstr>
      <vt:lpstr>Form input</vt:lpstr>
      <vt:lpstr>Hands-on Practice</vt:lpstr>
      <vt:lpstr>Quick Poll</vt:lpstr>
      <vt:lpstr>Which tool should manage API data?</vt:lpstr>
      <vt:lpstr>Lesson Summary</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Humphrey</dc:creator>
  <cp:lastModifiedBy>Nathan Humphrey</cp:lastModifiedBy>
  <cp:revision>286</cp:revision>
  <dcterms:created xsi:type="dcterms:W3CDTF">2025-05-09T22:20:28Z</dcterms:created>
  <dcterms:modified xsi:type="dcterms:W3CDTF">2026-04-06T21:08:00Z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2025-05-09T22:21:39Z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ea09c963-5839-457c-a351-7e2868c7baef</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
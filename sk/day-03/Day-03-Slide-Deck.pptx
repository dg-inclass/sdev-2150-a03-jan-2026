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08" r:id="rId9"/>
    <p:sldId id="301" r:id="rId10"/>
    <p:sldId id="309" r:id="rId11"/>
    <p:sldId id="302" r:id="rId12"/>
    <p:sldId id="310" r:id="rId13"/>
    <p:sldId id="304" r:id="rId14"/>
    <p:sldId id="323" r:id="rId15"/>
    <p:sldId id="324" r:id="rId16"/>
    <p:sldId id="325" r:id="rId17"/>
    <p:sldId id="326" r:id="rId18"/>
    <p:sldId id="331" r:id="rId19"/>
    <p:sldId id="321" r:id="rId20"/>
    <p:sldId id="327" r:id="rId21"/>
    <p:sldId id="328" r:id="rId22"/>
    <p:sldId id="329" r:id="rId23"/>
    <p:sldId id="330" r:id="rId24"/>
    <p:sldId id="311" r:id="rId25"/>
    <p:sldId id="305" r:id="rId26"/>
    <p:sldId id="314" r:id="rId27"/>
    <p:sldId id="312" r:id="rId28"/>
    <p:sldId id="295" r:id="rId29"/>
    <p:sldId id="258" r:id="rId30"/>
    <p:sldId id="28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65"/>
    <p:restoredTop sz="94679"/>
  </p:normalViewPr>
  <p:slideViewPr>
    <p:cSldViewPr snapToGrid="0">
      <p:cViewPr varScale="1">
        <p:scale>
          <a:sx n="108" d="100"/>
          <a:sy n="108" d="100"/>
        </p:scale>
        <p:origin x="20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EE06-EC41-2887-B8ED-376F549D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5B921-CA69-E45C-3AD2-5213B2EEE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B9419-CAC7-64D7-6265-A9D5A30EF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764FC-9DDD-7E08-4052-EF94133C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397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AD3C-FADE-36D0-9862-EB1163B1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1821E-663C-E0C1-64B7-8D2AAAD4D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DF94A-11EC-BA07-6F22-BA7642B94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ACBB5-5674-97AD-0CB0-5451BC677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9509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6454-6061-F357-9A79-A235CBCA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C7E6-AE60-BAF4-D218-0D9624C80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2AE27-F403-D77B-1CE4-1922ABECF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BA9CF-8B6E-BF81-CF20-16148B84F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4615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2B85-E456-CBE6-7C55-660A2174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34AFA-556F-F79B-CB7A-6940FF793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BAB81-60F1-D48B-534D-04B373253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83899-E4DD-3133-BD8E-89E713ED6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8594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6F4F-968E-8BD3-F211-35988950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848C6-9BB1-1D8F-E915-CFF798C1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C6A4-090D-6C69-560A-27A8451D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A6F4-9365-58F0-3679-9580CB6F1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366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03: </a:t>
            </a:r>
            <a:r>
              <a:rPr lang="en-CA" dirty="0"/>
              <a:t>Reactive Patterns and Component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what makes a UI interaction reactive</a:t>
            </a:r>
          </a:p>
          <a:p>
            <a:pPr marL="971550" lvl="1" indent="-514350"/>
            <a:r>
              <a:rPr lang="en-US" dirty="0"/>
              <a:t>Describe how custom events enable component communication</a:t>
            </a:r>
          </a:p>
          <a:p>
            <a:pPr marL="971550" lvl="1" indent="-514350"/>
            <a:r>
              <a:rPr lang="en-US" dirty="0"/>
              <a:t>Implement a simple reactive pattern using Web Components</a:t>
            </a:r>
          </a:p>
          <a:p>
            <a:pPr marL="971550" lvl="1" indent="-514350"/>
            <a:r>
              <a:rPr lang="en-US" dirty="0"/>
              <a:t>Trace how data flows through an event-driven UI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composition from Lesson 02  </a:t>
            </a:r>
          </a:p>
          <a:p>
            <a:r>
              <a:rPr lang="en-US" dirty="0"/>
              <a:t>Introduce reactive thinking  </a:t>
            </a:r>
          </a:p>
          <a:p>
            <a:r>
              <a:rPr lang="en-US" dirty="0"/>
              <a:t>Events and component communication  </a:t>
            </a:r>
          </a:p>
          <a:p>
            <a:r>
              <a:rPr lang="en-US" dirty="0"/>
              <a:t>Instructor demo: selecting a resource  </a:t>
            </a:r>
          </a:p>
          <a:p>
            <a:r>
              <a:rPr lang="en-US" dirty="0"/>
              <a:t>Hands-on practice  </a:t>
            </a:r>
          </a:p>
          <a:p>
            <a:r>
              <a:rPr lang="en-US" dirty="0"/>
              <a:t>Reflection and preview of Lesson 04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Where We Are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Building on Lesson 02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 02 focused on </a:t>
            </a:r>
            <a:r>
              <a:rPr lang="en-US" b="1" dirty="0"/>
              <a:t>composition</a:t>
            </a:r>
          </a:p>
          <a:p>
            <a:r>
              <a:rPr lang="en-US" dirty="0"/>
              <a:t>We assembled the UI from multiple components</a:t>
            </a:r>
          </a:p>
          <a:p>
            <a:r>
              <a:rPr lang="en-US" dirty="0"/>
              <a:t>Components were mostly isolated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Now we need those components to </a:t>
            </a:r>
            <a:r>
              <a:rPr lang="en-CA" b="1" dirty="0"/>
              <a:t>work together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components aren't enough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interact with the UI</a:t>
            </a:r>
          </a:p>
          <a:p>
            <a:r>
              <a:rPr lang="en-US" dirty="0"/>
              <a:t>Data changes over time</a:t>
            </a:r>
          </a:p>
          <a:p>
            <a:r>
              <a:rPr lang="en-US" dirty="0"/>
              <a:t>One component's action affects another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We need a way for components to react.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Reactive Thinking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reactive mental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Something happens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An event is emitted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Other code reacts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The UI updates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CA" dirty="0"/>
              <a:t>This loop drives modern front-end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Events as Signals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are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They describe </a:t>
            </a:r>
            <a:r>
              <a:rPr lang="en-CA" b="1" dirty="0"/>
              <a:t>what</a:t>
            </a:r>
            <a:r>
              <a:rPr lang="en-CA" dirty="0"/>
              <a:t> happened</a:t>
            </a:r>
          </a:p>
          <a:p>
            <a:r>
              <a:rPr lang="en-CA" dirty="0"/>
              <a:t>They do not dictate </a:t>
            </a:r>
            <a:r>
              <a:rPr lang="en-CA" b="1" dirty="0"/>
              <a:t>what should happen</a:t>
            </a:r>
            <a:endParaRPr lang="en-CA" dirty="0"/>
          </a:p>
          <a:p>
            <a:r>
              <a:rPr lang="en-CA" dirty="0"/>
              <a:t>Any interested listener can react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This keeps components loosely coupled.</a:t>
            </a:r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Custom Events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built-in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click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dirty="0"/>
              <a:t>,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change</a:t>
            </a:r>
            <a:r>
              <a:rPr lang="en-US" dirty="0"/>
              <a:t> describe user actions</a:t>
            </a:r>
          </a:p>
          <a:p>
            <a:r>
              <a:rPr lang="en-US" dirty="0"/>
              <a:t>Custom events describe </a:t>
            </a:r>
            <a:r>
              <a:rPr lang="en-US" b="1" dirty="0"/>
              <a:t>application meaning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meanings:</a:t>
            </a:r>
          </a:p>
          <a:p>
            <a:r>
              <a:rPr lang="en-US" dirty="0"/>
              <a:t>"A resource was selected"</a:t>
            </a:r>
          </a:p>
          <a:p>
            <a:r>
              <a:rPr lang="en-US" dirty="0"/>
              <a:t>"Filters changed"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3A23-E8EF-8998-4BCB-7D3D2FD4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089A-B2A5-EF23-AFB8-AE7917F53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Today's Interaction</a:t>
            </a:r>
          </a:p>
        </p:txBody>
      </p:sp>
    </p:spTree>
    <p:extLst>
      <p:ext uri="{BB962C8B-B14F-4D97-AF65-F5344CB8AC3E}">
        <p14:creationId xmlns:p14="http://schemas.microsoft.com/office/powerpoint/2010/main" val="1986178434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E877-0EA3-695E-C85E-0732EE5F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AC32-BC89-CE84-1701-B2335D5D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 resource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2BF19-AB39-BE49-8C7C-3A29B186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clicks a result item</a:t>
            </a:r>
          </a:p>
          <a:p>
            <a:r>
              <a:rPr lang="en-US" dirty="0"/>
              <a:t>Results component emits an event</a:t>
            </a:r>
          </a:p>
          <a:p>
            <a:r>
              <a:rPr lang="en-US" dirty="0"/>
              <a:t>Details component updates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Simple.</a:t>
            </a:r>
          </a:p>
        </p:txBody>
      </p:sp>
    </p:spTree>
    <p:extLst>
      <p:ext uri="{BB962C8B-B14F-4D97-AF65-F5344CB8AC3E}">
        <p14:creationId xmlns:p14="http://schemas.microsoft.com/office/powerpoint/2010/main" val="1466043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B298-8217-C169-8161-DF413241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014-C30C-F16A-8EF8-01B4CC4F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Event Contract</a:t>
            </a:r>
          </a:p>
        </p:txBody>
      </p:sp>
    </p:spTree>
    <p:extLst>
      <p:ext uri="{BB962C8B-B14F-4D97-AF65-F5344CB8AC3E}">
        <p14:creationId xmlns:p14="http://schemas.microsoft.com/office/powerpoint/2010/main" val="3583935102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20B6-0F1F-328B-252A-75A46C4C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1C8C-D6C9-F221-FD85-10999210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explicit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FC555-A632-BF7A-8E14-01394811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An event contract defines:</a:t>
            </a:r>
          </a:p>
          <a:p>
            <a:endParaRPr lang="en-US" dirty="0"/>
          </a:p>
          <a:p>
            <a:r>
              <a:rPr lang="en-US" dirty="0"/>
              <a:t>Who emits the event</a:t>
            </a:r>
          </a:p>
          <a:p>
            <a:r>
              <a:rPr lang="en-US" dirty="0"/>
              <a:t>What it is called</a:t>
            </a:r>
          </a:p>
          <a:p>
            <a:r>
              <a:rPr lang="en-US" dirty="0"/>
              <a:t>What data it carries</a:t>
            </a:r>
          </a:p>
          <a:p>
            <a:r>
              <a:rPr lang="en-US" dirty="0"/>
              <a:t>Who reacts to it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prevents hidden dependencies.</a:t>
            </a:r>
          </a:p>
        </p:txBody>
      </p:sp>
    </p:spTree>
    <p:extLst>
      <p:ext uri="{BB962C8B-B14F-4D97-AF65-F5344CB8AC3E}">
        <p14:creationId xmlns:p14="http://schemas.microsoft.com/office/powerpoint/2010/main" val="4095847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B49-A8F9-9C38-2146-F342BD25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Event: resource-selected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2C82-E7BD-14D4-6BE0-E8D72E4F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Contract summary</a:t>
            </a:r>
            <a:endParaRPr lang="en-CA" dirty="0"/>
          </a:p>
          <a:p>
            <a:r>
              <a:rPr lang="en-US" dirty="0"/>
              <a:t>Emitted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&lt;resource-results&gt;</a:t>
            </a:r>
          </a:p>
          <a:p>
            <a:r>
              <a:rPr lang="en-US" dirty="0"/>
              <a:t>Fired when a result is activated</a:t>
            </a:r>
          </a:p>
          <a:p>
            <a:r>
              <a:rPr lang="en-US" dirty="0"/>
              <a:t>Payload includes the selected resource</a:t>
            </a:r>
          </a:p>
          <a:p>
            <a:r>
              <a:rPr lang="en-US" dirty="0"/>
              <a:t>Event bubbles through the DOM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dirty="0"/>
              <a:t>No direct component references required.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6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6299-C83A-18C8-8C77-B16B08A9C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FROM EVENT TO REACTION</a:t>
            </a:r>
          </a:p>
        </p:txBody>
      </p:sp>
      <p:pic>
        <p:nvPicPr>
          <p:cNvPr id="7" name="Content Placeholder 6" descr="A diagram of a resource selected&#10;&#10;AI-generated content may be incorrect.">
            <a:extLst>
              <a:ext uri="{FF2B5EF4-FFF2-40B4-BE49-F238E27FC236}">
                <a16:creationId xmlns:a16="http://schemas.microsoft.com/office/drawing/2014/main" id="{C01E0849-55BF-2760-FE16-540F696FB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2024"/>
            <a:ext cx="10515600" cy="2973376"/>
          </a:xfrm>
        </p:spPr>
      </p:pic>
    </p:spTree>
    <p:extLst>
      <p:ext uri="{BB962C8B-B14F-4D97-AF65-F5344CB8AC3E}">
        <p14:creationId xmlns:p14="http://schemas.microsoft.com/office/powerpoint/2010/main" val="70808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F10A-3413-5955-1DFF-FF78E5EA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C94C-2C89-8319-62B9-8E1CDD2A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Shadow DOM Reminder</a:t>
            </a:r>
          </a:p>
        </p:txBody>
      </p:sp>
    </p:spTree>
    <p:extLst>
      <p:ext uri="{BB962C8B-B14F-4D97-AF65-F5344CB8AC3E}">
        <p14:creationId xmlns:p14="http://schemas.microsoft.com/office/powerpoint/2010/main" val="2194380289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7A56-E69F-8A76-00BB-F016D8FD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5824-0EC3-3FC2-8C3C-D7CF81D1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are encapsulated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C56A-E6E1-1EF1-BC3B-7DD26C741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component uses Shadow DOM</a:t>
            </a:r>
          </a:p>
          <a:p>
            <a:r>
              <a:rPr lang="en-US" dirty="0"/>
              <a:t>Styles are included per component</a:t>
            </a:r>
          </a:p>
          <a:p>
            <a:r>
              <a:rPr lang="en-US" dirty="0"/>
              <a:t>Events still cross component boundaries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Shadow DOM changes </a:t>
            </a:r>
            <a:r>
              <a:rPr lang="en-US" b="1" dirty="0"/>
              <a:t>how</a:t>
            </a:r>
            <a:r>
              <a:rPr lang="en-US" dirty="0"/>
              <a:t> we style, not </a:t>
            </a:r>
            <a:r>
              <a:rPr lang="en-US" b="1" dirty="0"/>
              <a:t>how we communicate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0180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BDB56-A78F-4F5C-E4C8-B1B44447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FD2B-49AF-C334-ED2C-50BBE926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Where to Listen</a:t>
            </a:r>
          </a:p>
        </p:txBody>
      </p:sp>
    </p:spTree>
    <p:extLst>
      <p:ext uri="{BB962C8B-B14F-4D97-AF65-F5344CB8AC3E}">
        <p14:creationId xmlns:p14="http://schemas.microsoft.com/office/powerpoint/2010/main" val="600587390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DAA3-4126-717B-9F21-91CA02A8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348F-8787-6180-7CC4-D345E93C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Coordinating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7D24-CCAF-451A-D18F-D0D2830DD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this lesson:</a:t>
            </a:r>
          </a:p>
          <a:p>
            <a:endParaRPr lang="en-US" dirty="0"/>
          </a:p>
          <a:p>
            <a:r>
              <a:rPr lang="en-US" dirty="0"/>
              <a:t>Events are listened for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main.js</a:t>
            </a:r>
            <a:endParaRPr lang="en-US" dirty="0"/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main.js</a:t>
            </a:r>
            <a:r>
              <a:rPr lang="en-US" dirty="0"/>
              <a:t> acts as a simple coordinator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Later, this role can move into a parent component.</a:t>
            </a:r>
          </a:p>
        </p:txBody>
      </p:sp>
    </p:spTree>
    <p:extLst>
      <p:ext uri="{BB962C8B-B14F-4D97-AF65-F5344CB8AC3E}">
        <p14:creationId xmlns:p14="http://schemas.microsoft.com/office/powerpoint/2010/main" val="2135768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Reactive UI Update</a:t>
            </a:r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this reactive?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changes (selected resource)</a:t>
            </a:r>
          </a:p>
          <a:p>
            <a:r>
              <a:rPr lang="en-US" dirty="0"/>
              <a:t>Component state updates</a:t>
            </a:r>
          </a:p>
          <a:p>
            <a:r>
              <a:rPr lang="en-US" dirty="0"/>
              <a:t>UI re-renders automatically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The UI reflects current state.</a:t>
            </a:r>
          </a:p>
        </p:txBody>
      </p:sp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C04F-9E5A-DCCA-B0D2-8FC9A17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A20C-BBB4-84CC-E66F-C3E73C9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What We Are </a:t>
            </a:r>
            <a:r>
              <a:rPr lang="en-CA" b="1" i="1" dirty="0"/>
              <a:t>Not</a:t>
            </a:r>
            <a:r>
              <a:rPr lang="en-CA" b="1" dirty="0"/>
              <a:t> Doing Yet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8482206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2D3D-5F66-7960-FC00-2BCD6AE1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Intentional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C2FF-D3AC-F5EF-1BEC-EAA9A6551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global state management</a:t>
            </a:r>
          </a:p>
          <a:p>
            <a:r>
              <a:rPr lang="en-US" dirty="0"/>
              <a:t>No framework abstractions</a:t>
            </a:r>
          </a:p>
          <a:p>
            <a:r>
              <a:rPr lang="en-US" dirty="0"/>
              <a:t>No complex event graphs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We're building the mental model first.</a:t>
            </a:r>
          </a:p>
        </p:txBody>
      </p:sp>
    </p:spTree>
    <p:extLst>
      <p:ext uri="{BB962C8B-B14F-4D97-AF65-F5344CB8AC3E}">
        <p14:creationId xmlns:p14="http://schemas.microsoft.com/office/powerpoint/2010/main" val="3570535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Exercise: Update an existing component-based app to respond to user events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Implement simple custom event handling for web components.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Render results from an array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Emit a custom event on selection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Update the details component reactively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what makes a UI interaction reactive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custom events enable component communication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Implement a simple reactive pattern using Web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Trace how data flows through an event-driven UI</a:t>
            </a:r>
          </a:p>
          <a:p>
            <a:pPr marL="514373" indent="-514350"/>
            <a:r>
              <a:rPr lang="en-CA" dirty="0"/>
              <a:t>Complete lesson 3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makes this interaction reactive?”</a:t>
            </a:r>
          </a:p>
          <a:p>
            <a:r>
              <a:rPr lang="en-US" dirty="0"/>
              <a:t>“Why use a custom event instead of a direct method call?”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16486</TotalTime>
  <Words>571</Words>
  <Application>Microsoft Macintosh PowerPoint</Application>
  <PresentationFormat>Widescreen</PresentationFormat>
  <Paragraphs>139</Paragraphs>
  <Slides>30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Where We Are</vt:lpstr>
      <vt:lpstr>Building on Lesson 02</vt:lpstr>
      <vt:lpstr>The Problem</vt:lpstr>
      <vt:lpstr>Static components aren't enough</vt:lpstr>
      <vt:lpstr>Reactive Thinking</vt:lpstr>
      <vt:lpstr>The reactive mental model</vt:lpstr>
      <vt:lpstr>Events as Signals</vt:lpstr>
      <vt:lpstr>Events are messages</vt:lpstr>
      <vt:lpstr>Custom Events</vt:lpstr>
      <vt:lpstr>Beyond built-in events</vt:lpstr>
      <vt:lpstr>Today's Interaction</vt:lpstr>
      <vt:lpstr>Selecting a resource</vt:lpstr>
      <vt:lpstr>Event Contract</vt:lpstr>
      <vt:lpstr>Being explicit matters</vt:lpstr>
      <vt:lpstr>Event: resource-selected</vt:lpstr>
      <vt:lpstr>FROM EVENT TO REACTION</vt:lpstr>
      <vt:lpstr>Shadow DOM Reminder</vt:lpstr>
      <vt:lpstr>Components are encapsulated</vt:lpstr>
      <vt:lpstr>Where to Listen</vt:lpstr>
      <vt:lpstr>Coordinating components</vt:lpstr>
      <vt:lpstr>Reactive UI Update</vt:lpstr>
      <vt:lpstr>What makes this reactive?</vt:lpstr>
      <vt:lpstr>What We Are Not Doing Yet</vt:lpstr>
      <vt:lpstr>Intentional scope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63</cp:revision>
  <dcterms:created xsi:type="dcterms:W3CDTF">2025-05-09T22:20:28Z</dcterms:created>
  <dcterms:modified xsi:type="dcterms:W3CDTF">2026-01-23T01:12:59Z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
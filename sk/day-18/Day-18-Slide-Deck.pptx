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3"/>
  </p:notesMasterIdLst>
  <p:sldIdLst>
    <p:sldId id="256" r:id="rId2"/>
    <p:sldId id="257" r:id="rId3"/>
    <p:sldId id="282" r:id="rId4"/>
    <p:sldId id="306" r:id="rId5"/>
    <p:sldId id="322" r:id="rId6"/>
    <p:sldId id="307" r:id="rId7"/>
    <p:sldId id="303" r:id="rId8"/>
    <p:sldId id="343" r:id="rId9"/>
    <p:sldId id="371" r:id="rId10"/>
    <p:sldId id="337" r:id="rId11"/>
    <p:sldId id="372" r:id="rId12"/>
    <p:sldId id="354" r:id="rId13"/>
    <p:sldId id="360" r:id="rId14"/>
    <p:sldId id="373" r:id="rId15"/>
    <p:sldId id="339" r:id="rId16"/>
    <p:sldId id="361" r:id="rId17"/>
    <p:sldId id="340" r:id="rId18"/>
    <p:sldId id="374" r:id="rId19"/>
    <p:sldId id="363" r:id="rId20"/>
    <p:sldId id="344" r:id="rId21"/>
    <p:sldId id="367" r:id="rId22"/>
    <p:sldId id="368" r:id="rId23"/>
    <p:sldId id="375" r:id="rId24"/>
    <p:sldId id="376" r:id="rId25"/>
    <p:sldId id="377" r:id="rId26"/>
    <p:sldId id="378" r:id="rId27"/>
    <p:sldId id="295" r:id="rId28"/>
    <p:sldId id="352" r:id="rId29"/>
    <p:sldId id="353" r:id="rId30"/>
    <p:sldId id="258" r:id="rId31"/>
    <p:sldId id="281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08"/>
    <p:restoredTop sz="94679"/>
  </p:normalViewPr>
  <p:slideViewPr>
    <p:cSldViewPr snapToGrid="0">
      <p:cViewPr varScale="1">
        <p:scale>
          <a:sx n="121" d="100"/>
          <a:sy n="121" d="100"/>
        </p:scale>
        <p:origin x="3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411B5-A9B8-6D4E-A83B-91456309AD37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6114E8-53D3-EB43-8A56-360BB7DBB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1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BAB49-A5B2-6384-E3DF-547F4B224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33F74-9E95-3FF6-D454-C8FE8B02C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A9C78-3715-9929-CCA0-CC917FE0A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A795B-34AA-88EC-21E0-9B502A3D2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2019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C1B27-2AC3-687F-17B8-760C59F1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33A79-D1B1-1F5C-EEF5-578504509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4A97B-D8F8-4C45-E58C-57115F947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15220-2AE2-A6FC-8F7F-808067A00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3574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C5F39-B702-5E3F-4599-66728A78D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EDF982-2DC4-967A-9312-D6BED68F1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17537-430E-8421-E689-3B8A9D451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BC4A2-AA81-6941-9E84-50899CB54C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9296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A94E2-D862-EB53-2B91-136E9821D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D77618-BA07-DE87-3EE5-9DC8189373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CACF25-9041-186B-C7B8-DADEDEE64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0A422-AE28-1ABF-6965-1C9D253FA0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574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3C434-74C6-F8D5-F5FD-C04A04B3B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0AFEF3-9C09-D486-F152-A05A0F9D3F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080B79-A748-6102-650D-374F02C2F4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90F2-82AD-7B7A-D6D7-3126694940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85725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A4C01-C84C-9427-B684-2E837D486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925F4-851D-1E92-3AE0-0CC265989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C2922-EE37-3755-0762-3D6AAAEEA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ACD58-4EA1-A06B-85CC-C9B4D93CC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8724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BD5DE-61B2-C42D-9FF0-EB963B154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228A5F-8713-DEDF-062F-EB48EC1663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D426ED-FAB4-8F85-D551-2A1CA3CFA1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67270-9A71-9739-2488-26F6F27E6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35253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C3FCA-101F-60D6-39FB-09E64D61D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6082EB-BD25-D40F-034E-7938D6751C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3E458B-65E6-2C01-1838-F52171C0F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7D75D-9BB9-7DFA-9970-DCE99CB56F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5127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ABC85-2C53-8BB8-B8D6-022D002C4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807F61-2A19-D649-E8B4-6C69461F9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F2378B-0EFC-86EE-4C34-E5A3228A0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AC5797-8440-556A-2C00-27A4E1F1EF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31354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8B9B7-AA58-4CCF-7FBD-2FAEE5CE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391BD-E210-773F-DA51-92AB6912A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44E31-2BBF-CA80-62DE-B11A84511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8057C-6C08-54ED-4358-46C9C404C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63218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CE9E6-57DA-2668-431C-EFC765AB2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DA08C7-BB24-5D8F-086D-147BA04CF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22D454-320C-1E57-AB52-F45A68325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C5129-35AB-D540-72DC-7675784484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21074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0361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951" y="2539093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8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951" y="4376057"/>
            <a:ext cx="10606097" cy="11348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177" indent="0" algn="ctr">
              <a:buNone/>
              <a:defRPr sz="2000"/>
            </a:lvl2pPr>
            <a:lvl3pPr marL="914355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3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127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86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AD23F-0E93-DF4A-8F98-CC7CE27E2020}"/>
              </a:ext>
            </a:extLst>
          </p:cNvPr>
          <p:cNvSpPr txBox="1"/>
          <p:nvPr/>
        </p:nvSpPr>
        <p:spPr>
          <a:xfrm>
            <a:off x="1981329" y="679939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38325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5506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78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9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ighlight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8116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0218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ADA339-B7CC-2B4C-9CB9-A33E03B63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951" y="2785277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819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r large charts/images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11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tarbur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283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2324503-65B2-B147-B7D0-901C284D8BB3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350AE0C-6DEA-8141-A29A-9086B1E53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3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589" indent="-228589" algn="l" defTabSz="91435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6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43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20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297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475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479D-7383-A062-82D7-132E719500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SDEV2150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870D04-5049-481F-17B3-6CAD790966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18: Dynamic Routing with React Router 7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396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1445B-2B4F-5954-E61B-77DD40F77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65CDC-2775-AA01-C4E4-CBD66BB41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this lesson, students will: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Define dynamic routes using URL parameters</a:t>
            </a:r>
          </a:p>
          <a:p>
            <a:r>
              <a:rPr lang="en-US" dirty="0"/>
              <a:t>Use the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useParams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dirty="0"/>
              <a:t> hook to read route values</a:t>
            </a:r>
          </a:p>
          <a:p>
            <a:r>
              <a:rPr lang="en-US" dirty="0"/>
              <a:t>Navigate programmatically using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useNavigate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lang="en-US" dirty="0"/>
          </a:p>
          <a:p>
            <a:r>
              <a:rPr lang="en-US" dirty="0"/>
              <a:t>Build route‑driven interfaces where the URL represents application state</a:t>
            </a:r>
          </a:p>
        </p:txBody>
      </p:sp>
    </p:spTree>
    <p:extLst>
      <p:ext uri="{BB962C8B-B14F-4D97-AF65-F5344CB8AC3E}">
        <p14:creationId xmlns:p14="http://schemas.microsoft.com/office/powerpoint/2010/main" val="1973787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6C05A-AE25-1768-8A9B-9E1C6122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481B4-3432-EE69-114F-1E97A4260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 static routing</a:t>
            </a:r>
          </a:p>
          <a:p>
            <a:r>
              <a:rPr lang="en-US" dirty="0"/>
              <a:t>Understanding dynamic routes</a:t>
            </a:r>
          </a:p>
          <a:p>
            <a:r>
              <a:rPr lang="en-US" dirty="0"/>
              <a:t>URL parameters and route matching</a:t>
            </a:r>
          </a:p>
          <a:p>
            <a:r>
              <a:rPr lang="en-US" dirty="0"/>
              <a:t>Reading parameters with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useParams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lang="en-US" dirty="0"/>
          </a:p>
          <a:p>
            <a:r>
              <a:rPr lang="en-US" dirty="0"/>
              <a:t>Navigating programmatically</a:t>
            </a:r>
          </a:p>
          <a:p>
            <a:r>
              <a:rPr lang="en-US" dirty="0"/>
              <a:t>Designing route‑driven UIs</a:t>
            </a:r>
          </a:p>
        </p:txBody>
      </p:sp>
    </p:spTree>
    <p:extLst>
      <p:ext uri="{BB962C8B-B14F-4D97-AF65-F5344CB8AC3E}">
        <p14:creationId xmlns:p14="http://schemas.microsoft.com/office/powerpoint/2010/main" val="1231324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AEED0-DDE6-8C55-40FD-B519647BD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1B982-B120-50FB-49C1-AD22E1B1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Connecting</a:t>
            </a:r>
          </a:p>
        </p:txBody>
      </p:sp>
    </p:spTree>
    <p:extLst>
      <p:ext uri="{BB962C8B-B14F-4D97-AF65-F5344CB8AC3E}">
        <p14:creationId xmlns:p14="http://schemas.microsoft.com/office/powerpoint/2010/main" val="126031711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C1F16-3474-C259-3A81-449262C38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7A18-9B1C-5D39-C1F3-CA18B29F3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Real‑world examples of dynamic routes</a:t>
            </a:r>
            <a:endParaRPr lang="en-CA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A2C2F-55AB-166E-85E7-C1815433E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Many real websites use URLs with parameters.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/products/42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/users/135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/courses/SDEV1150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structure of the page stays the same</a:t>
            </a:r>
            <a:r>
              <a:rPr lang="en-US" dirty="0"/>
              <a:t>, but the </a:t>
            </a:r>
            <a:r>
              <a:rPr lang="en-US" b="1" dirty="0"/>
              <a:t>content changes based on the parameter</a:t>
            </a:r>
            <a:r>
              <a:rPr lang="en-US" dirty="0"/>
              <a:t>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92794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52A6-B6C0-A97B-A6FC-A05487E60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2162D-6F79-9F91-305A-598E214D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Why dynamic routes matter</a:t>
            </a:r>
          </a:p>
        </p:txBody>
      </p:sp>
    </p:spTree>
    <p:extLst>
      <p:ext uri="{BB962C8B-B14F-4D97-AF65-F5344CB8AC3E}">
        <p14:creationId xmlns:p14="http://schemas.microsoft.com/office/powerpoint/2010/main" val="1731326145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8D638-C70C-9E14-E05B-EC549CBAB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0221"/>
            <a:ext cx="10515600" cy="42723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Dynamic routes allow applications to: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Reuse a single page component</a:t>
            </a:r>
          </a:p>
          <a:p>
            <a:r>
              <a:rPr lang="en-US" dirty="0"/>
              <a:t>Load different data based on the URL</a:t>
            </a:r>
          </a:p>
          <a:p>
            <a:r>
              <a:rPr lang="en-US" dirty="0"/>
              <a:t>Support bookmarking and sharing</a:t>
            </a:r>
          </a:p>
          <a:p>
            <a:r>
              <a:rPr lang="en-US" dirty="0"/>
              <a:t>Represent application state in the address bar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URL becomes part of the application logic.</a:t>
            </a:r>
          </a:p>
        </p:txBody>
      </p:sp>
    </p:spTree>
    <p:extLst>
      <p:ext uri="{BB962C8B-B14F-4D97-AF65-F5344CB8AC3E}">
        <p14:creationId xmlns:p14="http://schemas.microsoft.com/office/powerpoint/2010/main" val="4045460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D1674-0C00-994F-3851-3DD0F7D40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D86F6-244E-2771-CFCA-127394EA4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Static vs Dynamic Routing</a:t>
            </a:r>
          </a:p>
        </p:txBody>
      </p:sp>
    </p:spTree>
    <p:extLst>
      <p:ext uri="{BB962C8B-B14F-4D97-AF65-F5344CB8AC3E}">
        <p14:creationId xmlns:p14="http://schemas.microsoft.com/office/powerpoint/2010/main" val="2511367113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F7A57-5A5C-9D28-246B-C1A2B4C4A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EC9C6-11A1-8EEB-49BE-259BDDBFD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48910"/>
            <a:ext cx="10515600" cy="30636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Static routing maps a </a:t>
            </a:r>
            <a:r>
              <a:rPr lang="en-US" b="1" dirty="0"/>
              <a:t>fixed path</a:t>
            </a:r>
            <a:r>
              <a:rPr lang="en-US" dirty="0"/>
              <a:t> to a component.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Dynamic routing maps a </a:t>
            </a:r>
            <a:r>
              <a:rPr lang="en-US" b="1" dirty="0"/>
              <a:t>pattern</a:t>
            </a:r>
            <a:r>
              <a:rPr lang="en-US" dirty="0"/>
              <a:t> to a component and extracts values from the URL.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67C01B-C02C-A47A-8C1D-2AB24252C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Conceptual difference</a:t>
            </a:r>
          </a:p>
        </p:txBody>
      </p:sp>
    </p:spTree>
    <p:extLst>
      <p:ext uri="{BB962C8B-B14F-4D97-AF65-F5344CB8AC3E}">
        <p14:creationId xmlns:p14="http://schemas.microsoft.com/office/powerpoint/2010/main" val="203084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D9768-B8BB-1AEA-D538-D18DEA286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C415C-6716-B5DF-F21D-5C67E3C38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cap="none" dirty="0"/>
              <a:t>Visual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FE643-E95A-8E85-A833-3F24CA2C5D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5506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diagram to the right illustrates how static and dynamic routes differ in how they interpret the URL.</a:t>
            </a:r>
          </a:p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same component </a:t>
            </a:r>
            <a:r>
              <a:rPr lang="en-US" dirty="0"/>
              <a:t>can </a:t>
            </a:r>
            <a:r>
              <a:rPr lang="en-CA" dirty="0"/>
              <a:t>render different data depending on the route parameter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8F568257-0A98-E2B9-EA8E-DFB3107378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54" r="-3" b="2278"/>
          <a:stretch>
            <a:fillRect/>
          </a:stretch>
        </p:blipFill>
        <p:spPr>
          <a:xfrm>
            <a:off x="6172200" y="1537380"/>
            <a:ext cx="5181600" cy="37832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39527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0358E-10A3-D679-9E35-F9589989E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26D05-7B58-9011-43D3-B7252E0B8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Defining Dynamic Routes</a:t>
            </a:r>
          </a:p>
        </p:txBody>
      </p:sp>
    </p:spTree>
    <p:extLst>
      <p:ext uri="{BB962C8B-B14F-4D97-AF65-F5344CB8AC3E}">
        <p14:creationId xmlns:p14="http://schemas.microsoft.com/office/powerpoint/2010/main" val="2513253504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17176-BA29-A6B4-FA31-120A15379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9B92B-BD69-A233-2C55-51F5EB3A7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0842"/>
            <a:ext cx="10515600" cy="334739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Dynamic segments are defined using “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dirty="0"/>
              <a:t>”.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&lt;Route path="admin/: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resourceId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" element={&lt;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AdminPage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/&gt;} /&gt;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Here: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admin</a:t>
            </a:r>
            <a:r>
              <a:rPr lang="en-US" dirty="0"/>
              <a:t> is the static portion</a:t>
            </a:r>
          </a:p>
          <a:p>
            <a:r>
              <a:rPr lang="en-US" sz="27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700" dirty="0" err="1">
                <a:latin typeface="Consolas" panose="020B0609020204030204" pitchFamily="49" charset="0"/>
                <a:cs typeface="Consolas" panose="020B0609020204030204" pitchFamily="49" charset="0"/>
              </a:rPr>
              <a:t>resourceId</a:t>
            </a:r>
            <a:r>
              <a:rPr lang="en-US" dirty="0"/>
              <a:t> is the dynamic parameter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6BA7F-6715-A130-8CE0-7CF89CC96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Parameter syntax</a:t>
            </a:r>
          </a:p>
        </p:txBody>
      </p:sp>
    </p:spTree>
    <p:extLst>
      <p:ext uri="{BB962C8B-B14F-4D97-AF65-F5344CB8AC3E}">
        <p14:creationId xmlns:p14="http://schemas.microsoft.com/office/powerpoint/2010/main" val="2423362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F38F2-85E5-2E11-0EB0-1C9AB4397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DAD85-4D77-A12E-A004-B0EE9A4A2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React Router does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3C553-75D8-7927-58DA-97335849D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When a URL matches the route: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/admin/abc123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React Router extracts the parameter value: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resourceId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"abc123"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value becomes available inside the component.</a:t>
            </a:r>
          </a:p>
        </p:txBody>
      </p:sp>
    </p:spTree>
    <p:extLst>
      <p:ext uri="{BB962C8B-B14F-4D97-AF65-F5344CB8AC3E}">
        <p14:creationId xmlns:p14="http://schemas.microsoft.com/office/powerpoint/2010/main" val="3970606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7907B-43C0-60EB-85CB-A72B4C538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8FB8A-DF9F-024C-5292-5F15E063D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Reading Route Parameters</a:t>
            </a:r>
          </a:p>
        </p:txBody>
      </p:sp>
    </p:spTree>
    <p:extLst>
      <p:ext uri="{BB962C8B-B14F-4D97-AF65-F5344CB8AC3E}">
        <p14:creationId xmlns:p14="http://schemas.microsoft.com/office/powerpoint/2010/main" val="1896262680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EC1F1-084A-F978-AD19-FC8928A6B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43AC8-9404-3E45-2BB8-524319B1A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3903"/>
            <a:ext cx="10515600" cy="35786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React Router provides a hook for accessing parameters.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import {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useParams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} from "react-router";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const {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resourceId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}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useParams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useParams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dirty="0"/>
              <a:t> returns an object containing the parameter values.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0C6EAF-1DC9-D8B5-DF9A-45643B5CA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useParams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dirty="0"/>
              <a:t> hook</a:t>
            </a:r>
          </a:p>
        </p:txBody>
      </p:sp>
    </p:spTree>
    <p:extLst>
      <p:ext uri="{BB962C8B-B14F-4D97-AF65-F5344CB8AC3E}">
        <p14:creationId xmlns:p14="http://schemas.microsoft.com/office/powerpoint/2010/main" val="765638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364FB-8778-3213-03E2-07B457C37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F36E5-5A3A-B76F-9B16-E0055897F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F60A1-1B35-18F8-ABA2-B33A5668B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36869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If the URL is: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/admin/abc123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resourceId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=== "abc123"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23FE1E-5C29-F2F7-983C-0996353896E8}"/>
              </a:ext>
            </a:extLst>
          </p:cNvPr>
          <p:cNvSpPr txBox="1"/>
          <p:nvPr/>
        </p:nvSpPr>
        <p:spPr>
          <a:xfrm>
            <a:off x="6096000" y="2521059"/>
            <a:ext cx="609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/>
              <a:t>This value can be used 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load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display details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control application state</a:t>
            </a:r>
          </a:p>
        </p:txBody>
      </p:sp>
    </p:spTree>
    <p:extLst>
      <p:ext uri="{BB962C8B-B14F-4D97-AF65-F5344CB8AC3E}">
        <p14:creationId xmlns:p14="http://schemas.microsoft.com/office/powerpoint/2010/main" val="628021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49BB5-66C3-BD9B-A70C-B3B0E3966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85B8E-CFB5-5DB8-9F62-98193E27C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Route‑Driven UI State</a:t>
            </a:r>
          </a:p>
        </p:txBody>
      </p:sp>
    </p:spTree>
    <p:extLst>
      <p:ext uri="{BB962C8B-B14F-4D97-AF65-F5344CB8AC3E}">
        <p14:creationId xmlns:p14="http://schemas.microsoft.com/office/powerpoint/2010/main" val="3204336034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BB760-B04F-3AE9-99F7-559919988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2DE13-5CD4-C5C1-49FA-C808B76DA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URL as application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FF7E0-C2E2-DB3D-1AF9-242545AF4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368690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Instead of storing state locally: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selectedResource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"abc123"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can encode it directly in the URL: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/admin/abc123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5E367F-AEAF-52BB-6108-014093D83CC5}"/>
              </a:ext>
            </a:extLst>
          </p:cNvPr>
          <p:cNvSpPr txBox="1"/>
          <p:nvPr/>
        </p:nvSpPr>
        <p:spPr>
          <a:xfrm>
            <a:off x="6096000" y="2521059"/>
            <a:ext cx="6096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/>
              <a:t>This approach improves:</a:t>
            </a:r>
          </a:p>
          <a:p>
            <a:pPr marL="0" indent="0">
              <a:buNone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navigation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bookmarking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debugging</a:t>
            </a:r>
          </a:p>
        </p:txBody>
      </p:sp>
    </p:spTree>
    <p:extLst>
      <p:ext uri="{BB962C8B-B14F-4D97-AF65-F5344CB8AC3E}">
        <p14:creationId xmlns:p14="http://schemas.microsoft.com/office/powerpoint/2010/main" val="42074671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28D07-9C0A-212F-E672-573F73B89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2DE04-E2AD-DE52-5B46-79560BBFF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route‑driven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028C9-9414-0BD3-EE40-D4B26590A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URLs represent the current view</a:t>
            </a:r>
          </a:p>
          <a:p>
            <a:r>
              <a:rPr lang="en-US" dirty="0"/>
              <a:t>State survives page refreshes</a:t>
            </a:r>
          </a:p>
          <a:p>
            <a:r>
              <a:rPr lang="en-US" dirty="0"/>
              <a:t>Links can be shared</a:t>
            </a:r>
          </a:p>
          <a:p>
            <a:r>
              <a:rPr lang="en-US" dirty="0"/>
              <a:t>Navigation becomes predictable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pattern is very common in production applications.</a:t>
            </a:r>
          </a:p>
        </p:txBody>
      </p:sp>
    </p:spTree>
    <p:extLst>
      <p:ext uri="{BB962C8B-B14F-4D97-AF65-F5344CB8AC3E}">
        <p14:creationId xmlns:p14="http://schemas.microsoft.com/office/powerpoint/2010/main" val="7623277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1F6F3-B989-7315-DE91-C8358AF4D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934F7-E58B-8CD2-A5B6-DC69A2DDC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Programmatic Navigation</a:t>
            </a:r>
          </a:p>
        </p:txBody>
      </p:sp>
    </p:spTree>
    <p:extLst>
      <p:ext uri="{BB962C8B-B14F-4D97-AF65-F5344CB8AC3E}">
        <p14:creationId xmlns:p14="http://schemas.microsoft.com/office/powerpoint/2010/main" val="1664216461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1187E-DD14-52A7-0E47-CAFFD0EE5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5EA83-7D08-82B5-F7AC-A31E004A8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useNavigate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dirty="0"/>
              <a:t> hook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C59BF-A00D-25F8-23CF-E3E062698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React Router provides a way to change routes from code.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import {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useNavigate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} from "react-router";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const navigate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useNavigate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1494397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E93B7-18A9-FEE8-5A4C-5A0669E18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B5399-64BF-579B-1E54-448DA7215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Navigating to a dynamic route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60FB1-CF74-EB5E-FF20-513221644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handleEdit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(resource)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navigate(`/admin/${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resource.id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}`);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This updates the browser URL and triggers a route change.</a:t>
            </a:r>
          </a:p>
        </p:txBody>
      </p:sp>
    </p:spTree>
    <p:extLst>
      <p:ext uri="{BB962C8B-B14F-4D97-AF65-F5344CB8AC3E}">
        <p14:creationId xmlns:p14="http://schemas.microsoft.com/office/powerpoint/2010/main" val="19807394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0CB12-C88B-9AE9-A95A-8A90FE38C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6EEB7-6076-2C8D-4FF5-8F51491CC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Dynamic Route Flow</a:t>
            </a:r>
          </a:p>
        </p:txBody>
      </p:sp>
    </p:spTree>
    <p:extLst>
      <p:ext uri="{BB962C8B-B14F-4D97-AF65-F5344CB8AC3E}">
        <p14:creationId xmlns:p14="http://schemas.microsoft.com/office/powerpoint/2010/main" val="3063041358"/>
      </p:ext>
    </p:extLst>
  </p:cSld>
  <p:clrMapOvr>
    <a:masterClrMapping/>
  </p:clrMapOvr>
  <p:transition spd="med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0C4F4-D6DC-92F7-CEB4-FE21A5FC6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06DBC-B672-89A8-BB6E-12FBF70D7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82A9E-FEEC-D383-1F9C-F39CF2158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User clicks a resource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Application navigates to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/admin/: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resourceId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React Router extracts the parameter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Component reads it using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useParams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UI renders the appropriate data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URL drives the interface.</a:t>
            </a:r>
          </a:p>
        </p:txBody>
      </p:sp>
    </p:spTree>
    <p:extLst>
      <p:ext uri="{BB962C8B-B14F-4D97-AF65-F5344CB8AC3E}">
        <p14:creationId xmlns:p14="http://schemas.microsoft.com/office/powerpoint/2010/main" val="3143133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0C1AD-534C-D7DB-AC9B-5D6E0DD88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F074E-41E4-B52A-FCC0-501AD6E00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Nested Routing Review</a:t>
            </a:r>
          </a:p>
        </p:txBody>
      </p:sp>
    </p:spTree>
    <p:extLst>
      <p:ext uri="{BB962C8B-B14F-4D97-AF65-F5344CB8AC3E}">
        <p14:creationId xmlns:p14="http://schemas.microsoft.com/office/powerpoint/2010/main" val="1833912427"/>
      </p:ext>
    </p:extLst>
  </p:cSld>
  <p:clrMapOvr>
    <a:masterClrMapping/>
  </p:clrMapOvr>
  <p:transition spd="med">
    <p:pull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04105-EE98-3097-76E7-46106C7F2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76BE1-A94F-892C-26DD-FC7949448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routes inside layouts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C50ED-FDF9-FF93-AD44-6BC2D0096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Dynamic routes often appear inside layout routes.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 structure: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&lt;Route path="/" element={&lt;App /&gt;}&gt;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&lt;Route index element={&lt;Home /&gt;} /&gt;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&lt;Route path="admin" element={&lt;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AdminPage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/&gt;} /&gt;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&lt;Route path="admin/: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resourceId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" element={&lt;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AdminPage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/&gt;} /&gt;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&lt;/Route&gt;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layout remains the same while the content changes.</a:t>
            </a:r>
          </a:p>
        </p:txBody>
      </p:sp>
    </p:spTree>
    <p:extLst>
      <p:ext uri="{BB962C8B-B14F-4D97-AF65-F5344CB8AC3E}">
        <p14:creationId xmlns:p14="http://schemas.microsoft.com/office/powerpoint/2010/main" val="6698707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E497-0B96-A988-B0F7-8671A8753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D4F01-BCF7-C81D-4DF6-ED373D11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Hands-on Practice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A23C2-1004-2B1E-AEF1-B53F9E21E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dirty="0"/>
              <a:t>Exercise: Update the existing walkthrough project to make use of a route parameter to display the currently selected resource.</a:t>
            </a:r>
          </a:p>
          <a:p>
            <a:pPr marL="0" indent="0">
              <a:buNone/>
            </a:pPr>
            <a:r>
              <a:rPr lang="en-CA" b="1" dirty="0"/>
              <a:t>Objective: </a:t>
            </a:r>
            <a:r>
              <a:rPr lang="en-CA" dirty="0"/>
              <a:t>Implement dynamic client-side routing in an SPA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Obtain the exercise starter files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Add the necessary application route.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Access the route  parameter on the page.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Display the correct resource </a:t>
            </a:r>
            <a:r>
              <a:rPr lang="en-CA"/>
              <a:t>based in the route parameter id.</a:t>
            </a:r>
            <a:endParaRPr lang="en-CA" dirty="0"/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Ask questions if you are unsure of what to do or how the code works.</a:t>
            </a:r>
          </a:p>
          <a:p>
            <a:pPr marL="971527" lvl="1" indent="-514350">
              <a:buFont typeface="+mj-lt"/>
              <a:buAutoNum type="arabicPeriod"/>
            </a:pP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8885256"/>
      </p:ext>
    </p:extLst>
  </p:cSld>
  <p:clrMapOvr>
    <a:masterClrMapping/>
  </p:clrMapOvr>
  <p:transition spd="med"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1D267-295B-8BC6-526B-F7AF72936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88993-A1E9-DD98-6466-3FA55B3B8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Quick Poll</a:t>
            </a:r>
          </a:p>
        </p:txBody>
      </p:sp>
    </p:spTree>
    <p:extLst>
      <p:ext uri="{BB962C8B-B14F-4D97-AF65-F5344CB8AC3E}">
        <p14:creationId xmlns:p14="http://schemas.microsoft.com/office/powerpoint/2010/main" val="412320587"/>
      </p:ext>
    </p:extLst>
  </p:cSld>
  <p:clrMapOvr>
    <a:masterClrMapping/>
  </p:clrMapOvr>
  <p:transition spd="med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9F378-947C-7BA3-AFE0-EFB3BB840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65DB5-5309-A725-8C04-D7ACAF334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a route is defined as: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51A40-7173-1A79-5623-9E424F676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&lt;Route path="users/: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userId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" element={&lt;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UserPage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/&gt;} /&gt;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will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useParams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dirty="0"/>
              <a:t> return for the URL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/users/42</a:t>
            </a:r>
            <a:r>
              <a:rPr lang="en-US" dirty="0"/>
              <a:t>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 id: 42 }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userId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"42" }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 user: "42"} 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 params: "42" }</a:t>
            </a:r>
          </a:p>
        </p:txBody>
      </p:sp>
    </p:spTree>
    <p:extLst>
      <p:ext uri="{BB962C8B-B14F-4D97-AF65-F5344CB8AC3E}">
        <p14:creationId xmlns:p14="http://schemas.microsoft.com/office/powerpoint/2010/main" val="8219635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F87A-EC3B-6F87-073F-5EA32E94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FA4A7-5289-6F66-D4CE-FCD9F7DE8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this lesson, we covered the following: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Define dynamic routes using URL parameters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Use the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useParams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en-US" dirty="0"/>
              <a:t>hook to read route values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Navigate programmatically using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useNavigate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Build route‑driven interfaces where the URL represents application state</a:t>
            </a:r>
          </a:p>
          <a:p>
            <a:pPr marL="457200" lvl="1" indent="0">
              <a:buNone/>
            </a:pPr>
            <a:endParaRPr lang="en-US" dirty="0"/>
          </a:p>
          <a:p>
            <a:pPr marL="514373" indent="-514350"/>
            <a:r>
              <a:rPr lang="en-CA" dirty="0"/>
              <a:t>Complete lesson 18 checklist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7582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17D3-7614-08E1-2AAC-01DF58360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3BE39-AE9E-C416-EC64-744B7883B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Explain: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a dynamic route is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useParams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dirty="0"/>
              <a:t> retrieves route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Why using the URL as application state can improve an application</a:t>
            </a:r>
          </a:p>
        </p:txBody>
      </p:sp>
    </p:spTree>
    <p:extLst>
      <p:ext uri="{BB962C8B-B14F-4D97-AF65-F5344CB8AC3E}">
        <p14:creationId xmlns:p14="http://schemas.microsoft.com/office/powerpoint/2010/main" val="1481093830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Day N - PPT 1">
  <a:themeElements>
    <a:clrScheme name="NAIT 2020">
      <a:dk1>
        <a:sysClr val="windowText" lastClr="000000"/>
      </a:dk1>
      <a:lt1>
        <a:sysClr val="window" lastClr="FFFFFF"/>
      </a:lt1>
      <a:dk2>
        <a:srgbClr val="63666A"/>
      </a:dk2>
      <a:lt2>
        <a:srgbClr val="F2F2F2"/>
      </a:lt2>
      <a:accent1>
        <a:srgbClr val="002D74"/>
      </a:accent1>
      <a:accent2>
        <a:srgbClr val="00A0DF"/>
      </a:accent2>
      <a:accent3>
        <a:srgbClr val="005CB9"/>
      </a:accent3>
      <a:accent4>
        <a:srgbClr val="2AD2C9"/>
      </a:accent4>
      <a:accent5>
        <a:srgbClr val="97D700"/>
      </a:accent5>
      <a:accent6>
        <a:srgbClr val="F2A900"/>
      </a:accent6>
      <a:hlink>
        <a:srgbClr val="00AEFF"/>
      </a:hlink>
      <a:folHlink>
        <a:srgbClr val="981D9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 PPT TEMPLATE" id="{48C832B7-36DA-FF42-A033-DC69DF6E754B}" vid="{12E7E523-AC5B-2043-BD48-32C2D6EE82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Day N - PPT 1</Template>
  <TotalTime>16961</TotalTime>
  <Words>847</Words>
  <Application>Microsoft Macintosh PowerPoint</Application>
  <PresentationFormat>Widescreen</PresentationFormat>
  <Paragraphs>188</Paragraphs>
  <Slides>31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Aptos</vt:lpstr>
      <vt:lpstr>Arial</vt:lpstr>
      <vt:lpstr>Consolas</vt:lpstr>
      <vt:lpstr>Day N - PPT 1</vt:lpstr>
      <vt:lpstr>SDEV2150</vt:lpstr>
      <vt:lpstr>Lesson Objectives</vt:lpstr>
      <vt:lpstr>Agenda</vt:lpstr>
      <vt:lpstr>Connecting</vt:lpstr>
      <vt:lpstr>Real‑world examples of dynamic routes</vt:lpstr>
      <vt:lpstr>Why dynamic routes matter</vt:lpstr>
      <vt:lpstr>PowerPoint Presentation</vt:lpstr>
      <vt:lpstr>Static vs Dynamic Routing</vt:lpstr>
      <vt:lpstr>Conceptual difference</vt:lpstr>
      <vt:lpstr>Visual comparison</vt:lpstr>
      <vt:lpstr>Defining Dynamic Routes</vt:lpstr>
      <vt:lpstr>Parameter syntax</vt:lpstr>
      <vt:lpstr>What React Router does</vt:lpstr>
      <vt:lpstr>Reading Route Parameters</vt:lpstr>
      <vt:lpstr>The useParams() hook</vt:lpstr>
      <vt:lpstr>Example</vt:lpstr>
      <vt:lpstr>Route‑Driven UI State</vt:lpstr>
      <vt:lpstr>Using the URL as application state</vt:lpstr>
      <vt:lpstr>Benefits of route‑driven state</vt:lpstr>
      <vt:lpstr>Programmatic Navigation</vt:lpstr>
      <vt:lpstr>The useNavigate() hook</vt:lpstr>
      <vt:lpstr>Navigating to a dynamic route</vt:lpstr>
      <vt:lpstr>Dynamic Route Flow</vt:lpstr>
      <vt:lpstr>Example flow</vt:lpstr>
      <vt:lpstr>Nested Routing Review</vt:lpstr>
      <vt:lpstr>Dynamic routes inside layouts</vt:lpstr>
      <vt:lpstr>Hands-on Practice</vt:lpstr>
      <vt:lpstr>Quick Poll</vt:lpstr>
      <vt:lpstr>If a route is defined as:</vt:lpstr>
      <vt:lpstr>Lesson Summary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Humphrey</dc:creator>
  <cp:lastModifiedBy>Nathan Humphrey</cp:lastModifiedBy>
  <cp:revision>246</cp:revision>
  <dcterms:created xsi:type="dcterms:W3CDTF">2025-05-09T22:20:28Z</dcterms:created>
  <dcterms:modified xsi:type="dcterms:W3CDTF">2026-03-11T20:43:07Z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2025-05-09T22:21:39Z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ea09c963-5839-457c-a351-7e2868c7baef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
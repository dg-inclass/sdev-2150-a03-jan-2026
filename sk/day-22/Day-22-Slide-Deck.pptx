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3"/>
  </p:notesMasterIdLst>
  <p:sldIdLst>
    <p:sldId id="256" r:id="rId2"/>
    <p:sldId id="257" r:id="rId3"/>
    <p:sldId id="282" r:id="rId4"/>
    <p:sldId id="306" r:id="rId5"/>
    <p:sldId id="322" r:id="rId6"/>
    <p:sldId id="371" r:id="rId7"/>
    <p:sldId id="372" r:id="rId8"/>
    <p:sldId id="307" r:id="rId9"/>
    <p:sldId id="303" r:id="rId10"/>
    <p:sldId id="374" r:id="rId11"/>
    <p:sldId id="375" r:id="rId12"/>
    <p:sldId id="343" r:id="rId13"/>
    <p:sldId id="376" r:id="rId14"/>
    <p:sldId id="377" r:id="rId15"/>
    <p:sldId id="378" r:id="rId16"/>
    <p:sldId id="334" r:id="rId17"/>
    <p:sldId id="379" r:id="rId18"/>
    <p:sldId id="337" r:id="rId19"/>
    <p:sldId id="354" r:id="rId20"/>
    <p:sldId id="340" r:id="rId21"/>
    <p:sldId id="339" r:id="rId22"/>
    <p:sldId id="362" r:id="rId23"/>
    <p:sldId id="363" r:id="rId24"/>
    <p:sldId id="380" r:id="rId25"/>
    <p:sldId id="364" r:id="rId26"/>
    <p:sldId id="381" r:id="rId27"/>
    <p:sldId id="382" r:id="rId28"/>
    <p:sldId id="383" r:id="rId29"/>
    <p:sldId id="386" r:id="rId30"/>
    <p:sldId id="384" r:id="rId31"/>
    <p:sldId id="385" r:id="rId32"/>
    <p:sldId id="387" r:id="rId33"/>
    <p:sldId id="388" r:id="rId34"/>
    <p:sldId id="390" r:id="rId35"/>
    <p:sldId id="389" r:id="rId36"/>
    <p:sldId id="391" r:id="rId37"/>
    <p:sldId id="295" r:id="rId38"/>
    <p:sldId id="352" r:id="rId39"/>
    <p:sldId id="353" r:id="rId40"/>
    <p:sldId id="258" r:id="rId41"/>
    <p:sldId id="281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686"/>
    <p:restoredTop sz="94679"/>
  </p:normalViewPr>
  <p:slideViewPr>
    <p:cSldViewPr snapToGrid="0">
      <p:cViewPr varScale="1">
        <p:scale>
          <a:sx n="77" d="100"/>
          <a:sy n="77" d="100"/>
        </p:scale>
        <p:origin x="192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C5F39-B702-5E3F-4599-66728A78D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DF982-2DC4-967A-9312-D6BED68F1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17537-430E-8421-E689-3B8A9D451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BC4A2-AA81-6941-9E84-50899CB54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9296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B8AA7-95E9-3549-30F3-2B533AA0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B8752-C939-E0A6-D433-09EC25351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E5380-5FAF-1495-42D4-FB958EF0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8A2B-F13F-2168-981D-62E0E4A03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0665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4C01-C84C-9427-B684-2E837D48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925F4-851D-1E92-3AE0-0CC265989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C2922-EE37-3755-0762-3D6AAAEEA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ACD58-4EA1-A06B-85CC-C9B4D93CC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872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25C01-94F5-2250-A226-580B28289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A70E7E-1577-2822-6FEE-47522C9AA9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17DC6A-CE5E-28CB-4F8C-C697A3966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0BAD7-71A5-1AF7-FD2C-55220776A2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6891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6CFA2-5E1D-8064-DCBF-869260763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193AEA-2B5E-F050-495B-85505BC59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8DF02-8959-22B7-21CA-AA3003F9F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C5338-EC65-475A-8E90-140C495C50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5014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92ADC-FD49-246E-14C7-C8FC54DC2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92BBC-246A-AD14-E88C-324D72B0C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9F603C-60E5-794C-2639-905A968A1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B396F-A4AC-C4E9-A69B-1BFEAFF3C0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14895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4AF39-2520-BB6F-34C2-9310A80E3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DDD28A-C8A2-C784-E9F3-0589CE511E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463670-0869-70BD-B392-E1A50BACB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29B29-7A3B-6DEA-1F8E-C2A2DB0D24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2649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CE9E6-57DA-2668-431C-EFC765AB2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A08C7-BB24-5D8F-086D-147BA04CF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2D454-320C-1E57-AB52-F45A68325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C5129-35AB-D540-72DC-767578448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21074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22: Server-Side Rendering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Explain what server-side rendering (SSR) is</a:t>
            </a:r>
          </a:p>
          <a:p>
            <a:r>
              <a:rPr lang="en-US" dirty="0"/>
              <a:t>Compare CSR and SSR rendering flows</a:t>
            </a:r>
          </a:p>
          <a:p>
            <a:r>
              <a:rPr lang="en-US" dirty="0"/>
              <a:t>Describe how hydration works</a:t>
            </a:r>
          </a:p>
          <a:p>
            <a:r>
              <a:rPr lang="en-US" dirty="0"/>
              <a:t>Identify advantages and tradeoffs of SSR</a:t>
            </a:r>
          </a:p>
          <a:p>
            <a:r>
              <a:rPr lang="en-US" dirty="0"/>
              <a:t>Recognize when SSR is appropriate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CSR recap and limitations</a:t>
            </a:r>
          </a:p>
          <a:p>
            <a:r>
              <a:rPr lang="en-US" dirty="0"/>
              <a:t>What is SSR?</a:t>
            </a:r>
          </a:p>
          <a:p>
            <a:r>
              <a:rPr lang="en-US" dirty="0"/>
              <a:t>SSR rendering flow</a:t>
            </a:r>
          </a:p>
          <a:p>
            <a:r>
              <a:rPr lang="en-US" dirty="0"/>
              <a:t>Hydration</a:t>
            </a:r>
          </a:p>
          <a:p>
            <a:r>
              <a:rPr lang="en-US" dirty="0"/>
              <a:t>Observing SSR in the browser</a:t>
            </a:r>
          </a:p>
          <a:p>
            <a:r>
              <a:rPr lang="en-US" dirty="0"/>
              <a:t>Hybrid rendering</a:t>
            </a:r>
          </a:p>
          <a:p>
            <a:r>
              <a:rPr lang="en-US" dirty="0"/>
              <a:t>Frameworks and SSR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Connecting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1F16-3474-C259-3A81-449262C3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7A18-9B1C-5D39-C1F3-CA18B29F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Recap: Client-Side Rendering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2C2F-55AB-166E-85E7-C1815433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CSR: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HTML is minimal</a:t>
            </a:r>
          </a:p>
          <a:p>
            <a:r>
              <a:rPr lang="en-US" dirty="0"/>
              <a:t>JavaScript loads</a:t>
            </a:r>
          </a:p>
          <a:p>
            <a:r>
              <a:rPr lang="en-US" dirty="0"/>
              <a:t>React builds the UI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9279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6A62-3096-7ED3-BDC9-4D99E862D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E158D-8B33-384D-036A-A2E8BEE67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6D78C-59A2-8039-9E4E-B772C6A45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CSR can result in: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delayed first content</a:t>
            </a:r>
          </a:p>
          <a:p>
            <a:r>
              <a:rPr lang="en-US" dirty="0"/>
              <a:t>blank screens during load</a:t>
            </a:r>
          </a:p>
          <a:p>
            <a:r>
              <a:rPr lang="en-US" dirty="0"/>
              <a:t>reliance on JavaScript</a:t>
            </a:r>
          </a:p>
        </p:txBody>
      </p:sp>
    </p:spTree>
    <p:extLst>
      <p:ext uri="{BB962C8B-B14F-4D97-AF65-F5344CB8AC3E}">
        <p14:creationId xmlns:p14="http://schemas.microsoft.com/office/powerpoint/2010/main" val="487249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F8BAC-9251-5B78-45AF-DD712BD8A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983AA-516C-D39A-6F4A-ED29CF3C1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C294F-96C3-29CC-38F3-15E8CF23C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if the server sent a fully rendered page first?</a:t>
            </a:r>
          </a:p>
        </p:txBody>
      </p:sp>
    </p:spTree>
    <p:extLst>
      <p:ext uri="{BB962C8B-B14F-4D97-AF65-F5344CB8AC3E}">
        <p14:creationId xmlns:p14="http://schemas.microsoft.com/office/powerpoint/2010/main" val="1578059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What is SSR?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Server-Side Rendering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SSR means: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server generates HTML for the route</a:t>
            </a:r>
          </a:p>
          <a:p>
            <a:r>
              <a:rPr lang="en-US" dirty="0"/>
              <a:t>browser receives ready-to-display content</a:t>
            </a:r>
          </a:p>
          <a:p>
            <a:r>
              <a:rPr lang="en-US" dirty="0"/>
              <a:t>JavaScript enables interactivity after load</a:t>
            </a:r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D70BC-5FAD-9DED-1C64-E6E20035D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C827E-5CA3-4B10-6A81-CE7A0690B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SSR detailed 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1691B4-5B8D-1014-329C-83E4FAE2D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20" y="1313410"/>
            <a:ext cx="3733759" cy="489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760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8F398-DAD9-BE32-3C3B-27731F4AE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9D3E6-9E60-C188-A728-8C6077E4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24D6C-F782-C384-5EB9-2BCB4E2E8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843"/>
            <a:ext cx="10515600" cy="29534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SSR improves time to first content.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088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D1674-0C00-994F-3851-3DD0F7D4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86F6-244E-2771-CFCA-127394EA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CSR vs SSR</a:t>
            </a:r>
          </a:p>
        </p:txBody>
      </p:sp>
    </p:spTree>
    <p:extLst>
      <p:ext uri="{BB962C8B-B14F-4D97-AF65-F5344CB8AC3E}">
        <p14:creationId xmlns:p14="http://schemas.microsoft.com/office/powerpoint/2010/main" val="2511367113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9163E-1081-E88F-87A2-ECA51F69E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114CF-D445-E382-C653-68207AC37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CSR 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880F90-D8F4-D94B-667F-4EC58DE28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250" y="1206500"/>
            <a:ext cx="41275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240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F1E31-F02A-24EC-1A0B-AEAE6DBEF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CA288-564C-F0D9-84EF-E5B7F0E33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SSR flow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FEC280-E6F0-5052-702A-812796B36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100" y="1282700"/>
            <a:ext cx="4241800" cy="429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144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B458B-4D7A-BF7A-9F6A-4BF8EA3EE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E8248-79D7-26D0-D9BD-A347423B2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3683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CSR:</a:t>
            </a:r>
          </a:p>
          <a:p>
            <a:r>
              <a:rPr lang="en-US" dirty="0"/>
              <a:t>UI built in browser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SSR:</a:t>
            </a:r>
          </a:p>
          <a:p>
            <a:r>
              <a:rPr lang="en-US" dirty="0"/>
              <a:t>UI built on server first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5387F6-C140-F0C8-01D1-0C1C40F98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Key difference</a:t>
            </a:r>
          </a:p>
        </p:txBody>
      </p:sp>
    </p:spTree>
    <p:extLst>
      <p:ext uri="{BB962C8B-B14F-4D97-AF65-F5344CB8AC3E}">
        <p14:creationId xmlns:p14="http://schemas.microsoft.com/office/powerpoint/2010/main" val="1045713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8DDC-5CAF-8C2E-AC71-BD16391A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F2E8-4E54-ED2C-0752-EE01D1D6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Hydration</a:t>
            </a:r>
          </a:p>
        </p:txBody>
      </p:sp>
    </p:spTree>
    <p:extLst>
      <p:ext uri="{BB962C8B-B14F-4D97-AF65-F5344CB8AC3E}">
        <p14:creationId xmlns:p14="http://schemas.microsoft.com/office/powerpoint/2010/main" val="1484660151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9A181-C28B-32A6-17C9-4940BD112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8CD13-BDAB-B790-2169-8E2680322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38218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Hydration is: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React attaching </a:t>
            </a:r>
            <a:r>
              <a:rPr lang="en-US" b="1" dirty="0" err="1"/>
              <a:t>behaviour</a:t>
            </a:r>
            <a:r>
              <a:rPr lang="en-US" b="1" dirty="0"/>
              <a:t> to server-rendered HTML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E5C20-5A8E-F16D-C1E2-0AE35DEB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What is hydration?</a:t>
            </a:r>
          </a:p>
        </p:txBody>
      </p:sp>
    </p:spTree>
    <p:extLst>
      <p:ext uri="{BB962C8B-B14F-4D97-AF65-F5344CB8AC3E}">
        <p14:creationId xmlns:p14="http://schemas.microsoft.com/office/powerpoint/2010/main" val="3864188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9768-B8BB-1AEA-D538-D18DEA28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C415C-6716-B5DF-F21D-5C67E3C3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Hydration 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0ED004-8F82-DCCB-FB58-6379F5E28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00" y="1879600"/>
            <a:ext cx="7289800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527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17176-BA29-A6B4-FA31-120A15379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9B92B-BD69-A233-2C55-51F5EB3A7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842"/>
            <a:ext cx="10515600" cy="3347395"/>
          </a:xfrm>
        </p:spPr>
        <p:txBody>
          <a:bodyPr>
            <a:normAutofit/>
          </a:bodyPr>
          <a:lstStyle/>
          <a:p>
            <a:r>
              <a:rPr lang="en-US" dirty="0"/>
              <a:t>SSR provides content early</a:t>
            </a:r>
          </a:p>
          <a:p>
            <a:r>
              <a:rPr lang="en-US" dirty="0"/>
              <a:t>hydration enables interactivity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6BA7F-6715-A130-8CE0-7CF89CC96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Important distinction</a:t>
            </a:r>
          </a:p>
        </p:txBody>
      </p:sp>
    </p:spTree>
    <p:extLst>
      <p:ext uri="{BB962C8B-B14F-4D97-AF65-F5344CB8AC3E}">
        <p14:creationId xmlns:p14="http://schemas.microsoft.com/office/powerpoint/2010/main" val="2423362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9BB5-66C3-BD9B-A70C-B3B0E396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5B8E-CFB5-5DB8-9F62-98193E27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Observing SSR</a:t>
            </a:r>
          </a:p>
        </p:txBody>
      </p:sp>
    </p:spTree>
    <p:extLst>
      <p:ext uri="{BB962C8B-B14F-4D97-AF65-F5344CB8AC3E}">
        <p14:creationId xmlns:p14="http://schemas.microsoft.com/office/powerpoint/2010/main" val="3204336034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C1F1-084A-F978-AD19-FC8928A6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3AC8-9404-3E45-2BB8-524319B1A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3903"/>
            <a:ext cx="10515600" cy="35786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Reload the page and inspect: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HTML response</a:t>
            </a:r>
          </a:p>
          <a:p>
            <a:r>
              <a:rPr lang="en-US" dirty="0"/>
              <a:t>JavaScript files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0C6EAF-1DC9-D8B5-DF9A-45643B5CA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DevTools</a:t>
            </a:r>
            <a:r>
              <a:rPr lang="en-US" dirty="0"/>
              <a:t>: Network tab</a:t>
            </a:r>
          </a:p>
        </p:txBody>
      </p:sp>
    </p:spTree>
    <p:extLst>
      <p:ext uri="{BB962C8B-B14F-4D97-AF65-F5344CB8AC3E}">
        <p14:creationId xmlns:p14="http://schemas.microsoft.com/office/powerpoint/2010/main" val="765638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F4DF5-C5B7-AC2B-CFAC-275099BED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CA10B-6FFF-220E-56FC-BDB9B4349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should see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8A028-59EF-1FDB-C602-31C4B53BD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 contains actual content</a:t>
            </a:r>
          </a:p>
          <a:p>
            <a:r>
              <a:rPr lang="en-US" dirty="0"/>
              <a:t>content appears immediately</a:t>
            </a:r>
          </a:p>
          <a:p>
            <a:r>
              <a:rPr lang="en-US" dirty="0"/>
              <a:t>JavaScript loads afterward</a:t>
            </a:r>
          </a:p>
        </p:txBody>
      </p:sp>
    </p:spTree>
    <p:extLst>
      <p:ext uri="{BB962C8B-B14F-4D97-AF65-F5344CB8AC3E}">
        <p14:creationId xmlns:p14="http://schemas.microsoft.com/office/powerpoint/2010/main" val="1209829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28D07-9C0A-212F-E672-573F73B89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2DE04-E2AD-DE52-5B46-79560BBFF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with CSR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028C9-9414-0BD3-EE40-D4B26590A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CSR:</a:t>
            </a:r>
          </a:p>
          <a:p>
            <a:r>
              <a:rPr lang="en-US" dirty="0"/>
              <a:t>empty HTML shell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SSR:</a:t>
            </a:r>
          </a:p>
          <a:p>
            <a:r>
              <a:rPr lang="en-US" dirty="0"/>
              <a:t>pre-rendered content</a:t>
            </a:r>
          </a:p>
        </p:txBody>
      </p:sp>
    </p:spTree>
    <p:extLst>
      <p:ext uri="{BB962C8B-B14F-4D97-AF65-F5344CB8AC3E}">
        <p14:creationId xmlns:p14="http://schemas.microsoft.com/office/powerpoint/2010/main" val="7623277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2AAF3-525C-01ED-4D88-9DF2A01F8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B18D-8634-7ABF-23B8-8433F0589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Hybrid Rendering</a:t>
            </a:r>
          </a:p>
        </p:txBody>
      </p:sp>
    </p:spTree>
    <p:extLst>
      <p:ext uri="{BB962C8B-B14F-4D97-AF65-F5344CB8AC3E}">
        <p14:creationId xmlns:p14="http://schemas.microsoft.com/office/powerpoint/2010/main" val="2830111566"/>
      </p:ext>
    </p:extLst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E0CB6-4F87-BC2A-3FD5-BCB3A3A2D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0A497-7A31-45E8-D451-B5B7004B4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8FB31-2570-DDEF-B755-77F8CC7DD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Applications often mix strategies: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SSR for initial load</a:t>
            </a:r>
          </a:p>
          <a:p>
            <a:r>
              <a:rPr lang="en-US" dirty="0"/>
              <a:t>CSR for navigation</a:t>
            </a:r>
          </a:p>
          <a:p>
            <a:r>
              <a:rPr lang="en-US" dirty="0"/>
              <a:t>Pre-rendering for static content</a:t>
            </a:r>
          </a:p>
        </p:txBody>
      </p:sp>
    </p:spTree>
    <p:extLst>
      <p:ext uri="{BB962C8B-B14F-4D97-AF65-F5344CB8AC3E}">
        <p14:creationId xmlns:p14="http://schemas.microsoft.com/office/powerpoint/2010/main" val="25175419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8642D-5BD5-9D66-7A7E-3C7E0C147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B6271-27F6-744E-367F-588438E25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2143EE-5F73-FF7C-E675-DBA4A0FA6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2178050"/>
            <a:ext cx="5181600" cy="250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756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FC16D-13FC-D3FF-1C6D-B1384557F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854A8-B316-B080-027D-93877981F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E8078-4353-EA35-9101-0E4B1E8C9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Rendering strategy is a design decision.</a:t>
            </a:r>
          </a:p>
        </p:txBody>
      </p:sp>
    </p:spTree>
    <p:extLst>
      <p:ext uri="{BB962C8B-B14F-4D97-AF65-F5344CB8AC3E}">
        <p14:creationId xmlns:p14="http://schemas.microsoft.com/office/powerpoint/2010/main" val="9238250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C3679-DF17-9860-4C57-EDD2BE263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5AFBA-E10F-68F0-ADD2-DB1FBAC02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Frameworks and SSR</a:t>
            </a:r>
          </a:p>
        </p:txBody>
      </p:sp>
    </p:spTree>
    <p:extLst>
      <p:ext uri="{BB962C8B-B14F-4D97-AF65-F5344CB8AC3E}">
        <p14:creationId xmlns:p14="http://schemas.microsoft.com/office/powerpoint/2010/main" val="2736056327"/>
      </p:ext>
    </p:extLst>
  </p:cSld>
  <p:clrMapOvr>
    <a:masterClrMapping/>
  </p:clrMapOvr>
  <p:transition spd="med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BDC80-5CC3-F71F-B8DA-6AF6A0E86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F3E20-0E34-3105-F5DA-563570508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CAB51-1E96-7645-F99F-553CE9A93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React Router (framework mode)</a:t>
            </a:r>
          </a:p>
          <a:p>
            <a:r>
              <a:rPr lang="en-US" dirty="0" err="1"/>
              <a:t>Next.js</a:t>
            </a:r>
            <a:endParaRPr lang="en-US" dirty="0"/>
          </a:p>
          <a:p>
            <a:r>
              <a:rPr lang="en-US" dirty="0"/>
              <a:t>Remix (Now React Router)</a:t>
            </a:r>
          </a:p>
        </p:txBody>
      </p:sp>
    </p:spTree>
    <p:extLst>
      <p:ext uri="{BB962C8B-B14F-4D97-AF65-F5344CB8AC3E}">
        <p14:creationId xmlns:p14="http://schemas.microsoft.com/office/powerpoint/2010/main" val="29632988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F262B-3744-8A56-9EF1-F6C747465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59AAE-41A3-B7A3-FCAF-125E99D4A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frameworks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F9988-838F-5373-CEE2-2453406E1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render on server</a:t>
            </a:r>
          </a:p>
          <a:p>
            <a:r>
              <a:rPr lang="en-US" dirty="0"/>
              <a:t>manage routing and data</a:t>
            </a:r>
          </a:p>
          <a:p>
            <a:r>
              <a:rPr lang="en-US" dirty="0"/>
              <a:t>hydrate on client</a:t>
            </a:r>
          </a:p>
        </p:txBody>
      </p:sp>
    </p:spTree>
    <p:extLst>
      <p:ext uri="{BB962C8B-B14F-4D97-AF65-F5344CB8AC3E}">
        <p14:creationId xmlns:p14="http://schemas.microsoft.com/office/powerpoint/2010/main" val="3981090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8553B-0D66-A1F6-4FD0-0A47F837A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73327-CD1B-1608-009A-3DF89C892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Important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7B3A2-F79A-2515-2020-05F4FD88B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Frameworks handle SSR complexity.</a:t>
            </a:r>
          </a:p>
        </p:txBody>
      </p:sp>
    </p:spTree>
    <p:extLst>
      <p:ext uri="{BB962C8B-B14F-4D97-AF65-F5344CB8AC3E}">
        <p14:creationId xmlns:p14="http://schemas.microsoft.com/office/powerpoint/2010/main" val="25421920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757E4-7CF7-B947-56C8-6555AF41B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96BA7-FCCD-CD58-DE05-10EFC664D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Advantages of SSR</a:t>
            </a:r>
          </a:p>
        </p:txBody>
      </p:sp>
    </p:spTree>
    <p:extLst>
      <p:ext uri="{BB962C8B-B14F-4D97-AF65-F5344CB8AC3E}">
        <p14:creationId xmlns:p14="http://schemas.microsoft.com/office/powerpoint/2010/main" val="2680786598"/>
      </p:ext>
    </p:extLst>
  </p:cSld>
  <p:clrMapOvr>
    <a:masterClrMapping/>
  </p:clrMapOvr>
  <p:transition spd="med">
    <p:pull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333BF-F65E-EC14-EDCD-E29866375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37535-71AD-963C-B06A-FFEE70673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563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Strengths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B9AC7-7696-09AE-F6CA-D41E6B3BF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faster initial content</a:t>
            </a:r>
          </a:p>
          <a:p>
            <a:r>
              <a:rPr lang="en-US" dirty="0"/>
              <a:t>better perceived performance</a:t>
            </a:r>
          </a:p>
          <a:p>
            <a:r>
              <a:rPr lang="en-US" dirty="0"/>
              <a:t>improved SEO</a:t>
            </a:r>
          </a:p>
          <a:p>
            <a:r>
              <a:rPr lang="en-US" dirty="0"/>
              <a:t>better on slower devices</a:t>
            </a:r>
          </a:p>
        </p:txBody>
      </p:sp>
    </p:spTree>
    <p:extLst>
      <p:ext uri="{BB962C8B-B14F-4D97-AF65-F5344CB8AC3E}">
        <p14:creationId xmlns:p14="http://schemas.microsoft.com/office/powerpoint/2010/main" val="42388801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A3FF0-BA3F-5550-788C-55D1CE24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7D034-6FA5-ABA2-65AC-7EB79362A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 err="1"/>
              <a:t>Tradeoffs</a:t>
            </a:r>
            <a:r>
              <a:rPr lang="en-CA" dirty="0"/>
              <a:t> of SSR</a:t>
            </a:r>
          </a:p>
        </p:txBody>
      </p:sp>
    </p:spTree>
    <p:extLst>
      <p:ext uri="{BB962C8B-B14F-4D97-AF65-F5344CB8AC3E}">
        <p14:creationId xmlns:p14="http://schemas.microsoft.com/office/powerpoint/2010/main" val="485094098"/>
      </p:ext>
    </p:extLst>
  </p:cSld>
  <p:clrMapOvr>
    <a:masterClrMapping/>
  </p:clrMapOvr>
  <p:transition spd="med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59689-D22F-76C4-D7BB-AB2A8348E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7B0A3-EDDA-F1AE-1400-0E9F578E1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95C71-97D8-1B63-5CEE-F4FB40CED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more complex architecture</a:t>
            </a:r>
          </a:p>
          <a:p>
            <a:r>
              <a:rPr lang="en-US" dirty="0"/>
              <a:t>requires server environment</a:t>
            </a:r>
          </a:p>
          <a:p>
            <a:r>
              <a:rPr lang="en-US" dirty="0"/>
              <a:t>harder to debug</a:t>
            </a:r>
          </a:p>
          <a:p>
            <a:r>
              <a:rPr lang="en-US" dirty="0"/>
              <a:t>hydration still required</a:t>
            </a:r>
          </a:p>
        </p:txBody>
      </p:sp>
    </p:spTree>
    <p:extLst>
      <p:ext uri="{BB962C8B-B14F-4D97-AF65-F5344CB8AC3E}">
        <p14:creationId xmlns:p14="http://schemas.microsoft.com/office/powerpoint/2010/main" val="25874422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CDEBD-91EE-7556-7393-EFF08E682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99F42-8A56-4FB0-51A6-E2D84C0C5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Important perspective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D35EF-18BA-FD46-927E-E732B3978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SSR is one tool, not a replacement for CSR.</a:t>
            </a:r>
          </a:p>
        </p:txBody>
      </p:sp>
    </p:spTree>
    <p:extLst>
      <p:ext uri="{BB962C8B-B14F-4D97-AF65-F5344CB8AC3E}">
        <p14:creationId xmlns:p14="http://schemas.microsoft.com/office/powerpoint/2010/main" val="31270593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CA" dirty="0"/>
              <a:t>Exercise: Review and compare CSR vs SSR using the existing project and a contrived SSR example.</a:t>
            </a:r>
          </a:p>
          <a:p>
            <a:pPr marL="0" indent="0">
              <a:buNone/>
            </a:pPr>
            <a:r>
              <a:rPr lang="en-CA" b="1" dirty="0"/>
              <a:t>Objective: </a:t>
            </a:r>
            <a:r>
              <a:rPr lang="en-CA" dirty="0"/>
              <a:t>Explain the differences between CSR and SSR.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Run each project separately.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Inspect how each project renders a UI and when interactivity </a:t>
            </a:r>
            <a:r>
              <a:rPr lang="en-CA"/>
              <a:t>is enabled.</a:t>
            </a:r>
            <a:endParaRPr lang="en-CA" dirty="0"/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1D267-295B-8BC6-526B-F7AF72936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88993-A1E9-DD98-6466-3FA55B3B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Quick Poll</a:t>
            </a:r>
          </a:p>
        </p:txBody>
      </p:sp>
    </p:spTree>
    <p:extLst>
      <p:ext uri="{BB962C8B-B14F-4D97-AF65-F5344CB8AC3E}">
        <p14:creationId xmlns:p14="http://schemas.microsoft.com/office/powerpoint/2010/main" val="412320587"/>
      </p:ext>
    </p:extLst>
  </p:cSld>
  <p:clrMapOvr>
    <a:masterClrMapping/>
  </p:clrMapOvr>
  <p:transition spd="med">
    <p:pull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9F378-947C-7BA3-AFE0-EFB3BB840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65DB5-5309-A725-8C04-D7ACAF334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main benefit of SSR?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51A40-7173-1A79-5623-9E424F676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Faster interactivity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Faster initial content display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Less JavaScript required overall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No need for hydration</a:t>
            </a:r>
          </a:p>
        </p:txBody>
      </p:sp>
    </p:spTree>
    <p:extLst>
      <p:ext uri="{BB962C8B-B14F-4D97-AF65-F5344CB8AC3E}">
        <p14:creationId xmlns:p14="http://schemas.microsoft.com/office/powerpoint/2010/main" val="8219635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this lesson, we covered the following:</a:t>
            </a:r>
          </a:p>
          <a:p>
            <a:endParaRPr lang="en-US" dirty="0"/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Explain what server-side rendering (SSR) is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Compare CSR and SSR rendering flows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Describe how hydration works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Identify advantages and tradeoffs of SSR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Recognize when SSR is appropriate</a:t>
            </a:r>
          </a:p>
          <a:p>
            <a:pPr marL="457200" lvl="1" indent="0">
              <a:buNone/>
            </a:pPr>
            <a:endParaRPr lang="en-US" dirty="0"/>
          </a:p>
          <a:p>
            <a:pPr marL="514373" indent="-514350"/>
            <a:r>
              <a:rPr lang="en-CA" dirty="0"/>
              <a:t>Complete lesson 22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Explain: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server-side rendering 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hydration 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One advantage of SSR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One tradeoff of SSR</a:t>
            </a:r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17335</TotalTime>
  <Words>524</Words>
  <Application>Microsoft Macintosh PowerPoint</Application>
  <PresentationFormat>Widescreen</PresentationFormat>
  <Paragraphs>157</Paragraphs>
  <Slides>41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Connecting</vt:lpstr>
      <vt:lpstr>Recap: Client-Side Rendering</vt:lpstr>
      <vt:lpstr>The problem</vt:lpstr>
      <vt:lpstr>Key question</vt:lpstr>
      <vt:lpstr>What is SSR?</vt:lpstr>
      <vt:lpstr>Server-Side Rendering</vt:lpstr>
      <vt:lpstr>SSR detailed flow</vt:lpstr>
      <vt:lpstr>Key idea</vt:lpstr>
      <vt:lpstr>CSR vs SSR</vt:lpstr>
      <vt:lpstr>CSR flow</vt:lpstr>
      <vt:lpstr>SSR flow</vt:lpstr>
      <vt:lpstr>Key difference</vt:lpstr>
      <vt:lpstr>Hydration</vt:lpstr>
      <vt:lpstr>What is hydration?</vt:lpstr>
      <vt:lpstr>Hydration flow</vt:lpstr>
      <vt:lpstr>Important distinction</vt:lpstr>
      <vt:lpstr>Observing SSR</vt:lpstr>
      <vt:lpstr>DevTools: Network tab</vt:lpstr>
      <vt:lpstr>What you should see</vt:lpstr>
      <vt:lpstr>Compare with CSR</vt:lpstr>
      <vt:lpstr>Hybrid Rendering</vt:lpstr>
      <vt:lpstr>Modern approach</vt:lpstr>
      <vt:lpstr>Example</vt:lpstr>
      <vt:lpstr>Key idea</vt:lpstr>
      <vt:lpstr>Frameworks and SSR</vt:lpstr>
      <vt:lpstr>Modern frameworks</vt:lpstr>
      <vt:lpstr>What frameworks do</vt:lpstr>
      <vt:lpstr>Important point</vt:lpstr>
      <vt:lpstr>Advantages of SSR</vt:lpstr>
      <vt:lpstr>Strengths</vt:lpstr>
      <vt:lpstr>Tradeoffs of SSR</vt:lpstr>
      <vt:lpstr>Limitations</vt:lpstr>
      <vt:lpstr>Important perspective</vt:lpstr>
      <vt:lpstr>Hands-on Practice</vt:lpstr>
      <vt:lpstr>Quick Poll</vt:lpstr>
      <vt:lpstr>What is the main benefit of SSR?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Nathan Humphrey</cp:lastModifiedBy>
  <cp:revision>250</cp:revision>
  <dcterms:created xsi:type="dcterms:W3CDTF">2025-05-09T22:20:28Z</dcterms:created>
  <dcterms:modified xsi:type="dcterms:W3CDTF">2026-03-26T22:19:49Z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
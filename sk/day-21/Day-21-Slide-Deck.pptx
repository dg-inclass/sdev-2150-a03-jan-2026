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5"/>
  </p:notesMasterIdLst>
  <p:sldIdLst>
    <p:sldId id="256" r:id="rId2"/>
    <p:sldId id="257" r:id="rId3"/>
    <p:sldId id="282" r:id="rId4"/>
    <p:sldId id="306" r:id="rId5"/>
    <p:sldId id="322" r:id="rId6"/>
    <p:sldId id="371" r:id="rId7"/>
    <p:sldId id="372" r:id="rId8"/>
    <p:sldId id="307" r:id="rId9"/>
    <p:sldId id="303" r:id="rId10"/>
    <p:sldId id="374" r:id="rId11"/>
    <p:sldId id="375" r:id="rId12"/>
    <p:sldId id="343" r:id="rId13"/>
    <p:sldId id="376" r:id="rId14"/>
    <p:sldId id="377" r:id="rId15"/>
    <p:sldId id="378" r:id="rId16"/>
    <p:sldId id="334" r:id="rId17"/>
    <p:sldId id="337" r:id="rId18"/>
    <p:sldId id="354" r:id="rId19"/>
    <p:sldId id="360" r:id="rId20"/>
    <p:sldId id="339" r:id="rId21"/>
    <p:sldId id="340" r:id="rId22"/>
    <p:sldId id="362" r:id="rId23"/>
    <p:sldId id="379" r:id="rId24"/>
    <p:sldId id="363" r:id="rId25"/>
    <p:sldId id="364" r:id="rId26"/>
    <p:sldId id="380" r:id="rId27"/>
    <p:sldId id="383" r:id="rId28"/>
    <p:sldId id="381" r:id="rId29"/>
    <p:sldId id="382" r:id="rId30"/>
    <p:sldId id="352" r:id="rId31"/>
    <p:sldId id="353" r:id="rId32"/>
    <p:sldId id="258" r:id="rId33"/>
    <p:sldId id="281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08"/>
    <p:restoredTop sz="94679"/>
  </p:normalViewPr>
  <p:slideViewPr>
    <p:cSldViewPr snapToGrid="0">
      <p:cViewPr varScale="1">
        <p:scale>
          <a:sx n="121" d="100"/>
          <a:sy n="121" d="100"/>
        </p:scale>
        <p:origin x="3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411B5-A9B8-6D4E-A83B-91456309AD37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114E8-53D3-EB43-8A56-360BB7DBB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1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AB49-A5B2-6384-E3DF-547F4B22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33F74-9E95-3FF6-D454-C8FE8B02C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A9C78-3715-9929-CCA0-CC917FE0A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A795B-34AA-88EC-21E0-9B502A3D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201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1B27-2AC3-687F-17B8-760C59F1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33A79-D1B1-1F5C-EEF5-578504509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4A97B-D8F8-4C45-E58C-57115F94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5220-2AE2-A6FC-8F7F-808067A00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574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C5F39-B702-5E3F-4599-66728A78D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EDF982-2DC4-967A-9312-D6BED68F1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17537-430E-8421-E689-3B8A9D451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BC4A2-AA81-6941-9E84-50899CB54C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9296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B8AA7-95E9-3549-30F3-2B533AA02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BB8752-C939-E0A6-D433-09EC25351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E5380-5FAF-1495-42D4-FB958EF0A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C8A2B-F13F-2168-981D-62E0E4A03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0665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A4C01-C84C-9427-B684-2E837D48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925F4-851D-1E92-3AE0-0CC265989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C2922-EE37-3755-0762-3D6AAAEEA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ACD58-4EA1-A06B-85CC-C9B4D93CC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8724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92392-AEFD-4E28-A329-FFEECB4AB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1BB3AF-471A-EFB8-1120-A5F8DCE4E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D9B0F1-9256-CFEC-DC61-014767466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55D39-D7A5-E77C-77F9-EE0C53F22C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70551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DBFEF-CE1A-4142-EE82-972287C4B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6FA184-F894-363B-1868-04968855E6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D4382C-4498-9D20-41DD-C3A2CC178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1CAB9-1072-03AF-4073-CFECB56FD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40641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CE9E6-57DA-2668-431C-EFC765AB2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DA08C7-BB24-5D8F-086D-147BA04CF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22D454-320C-1E57-AB52-F45A68325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C5129-35AB-D540-72DC-767578448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21074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36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951" y="2539093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8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951" y="4376057"/>
            <a:ext cx="10606097" cy="11348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177" indent="0" algn="ctr">
              <a:buNone/>
              <a:defRPr sz="2000"/>
            </a:lvl2pPr>
            <a:lvl3pPr marL="914355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3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27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6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/>
        </p:nvSpPr>
        <p:spPr>
          <a:xfrm>
            <a:off x="1981329" y="679939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3832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506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8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116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0218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51" y="2785277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81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11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283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324503-65B2-B147-B7D0-901C284D8BB3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50AE0C-6DEA-8141-A29A-9086B1E53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3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9" indent="-228589" algn="l" defTabSz="914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6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43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20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479D-7383-A062-82D7-132E71950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SDEV2150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70D04-5049-481F-17B3-6CAD79096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21: Rendering Strategies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96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445B-2B4F-5954-E61B-77DD40F7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5CDC-2775-AA01-C4E4-CBD66BB4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lesson, students will: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Explain what a rendering strategy is</a:t>
            </a:r>
          </a:p>
          <a:p>
            <a:r>
              <a:rPr lang="en-US" dirty="0"/>
              <a:t>Describe how client-side rendering (CSR) works</a:t>
            </a:r>
          </a:p>
          <a:p>
            <a:r>
              <a:rPr lang="en-US" dirty="0"/>
              <a:t>Trace the flow from URL to UI in a React app</a:t>
            </a:r>
          </a:p>
          <a:p>
            <a:r>
              <a:rPr lang="en-US" dirty="0"/>
              <a:t>Compare CSR with traditional server rendering</a:t>
            </a:r>
          </a:p>
          <a:p>
            <a:r>
              <a:rPr lang="en-US" dirty="0"/>
              <a:t>Identify advantages and tradeoffs of CSR</a:t>
            </a:r>
          </a:p>
        </p:txBody>
      </p:sp>
    </p:spTree>
    <p:extLst>
      <p:ext uri="{BB962C8B-B14F-4D97-AF65-F5344CB8AC3E}">
        <p14:creationId xmlns:p14="http://schemas.microsoft.com/office/powerpoint/2010/main" val="197378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C05A-AE25-1768-8A9B-9E1C6122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481B4-3432-EE69-114F-1E97A426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rendering?</a:t>
            </a:r>
          </a:p>
          <a:p>
            <a:r>
              <a:rPr lang="en-US" dirty="0"/>
              <a:t>Traditional vs client-side rendering</a:t>
            </a:r>
          </a:p>
          <a:p>
            <a:r>
              <a:rPr lang="en-US" dirty="0"/>
              <a:t>How React renders in the browser</a:t>
            </a:r>
          </a:p>
          <a:p>
            <a:r>
              <a:rPr lang="en-US" dirty="0"/>
              <a:t>Routing and data loading in CSR</a:t>
            </a:r>
          </a:p>
          <a:p>
            <a:r>
              <a:rPr lang="en-US" dirty="0"/>
              <a:t>Observing CSR in </a:t>
            </a:r>
            <a:r>
              <a:rPr lang="en-US" dirty="0" err="1"/>
              <a:t>DevTools</a:t>
            </a:r>
            <a:endParaRPr lang="en-US" dirty="0"/>
          </a:p>
          <a:p>
            <a:r>
              <a:rPr lang="en-US" dirty="0"/>
              <a:t>Advantages and tradeoffs</a:t>
            </a:r>
          </a:p>
          <a:p>
            <a:r>
              <a:rPr lang="en-US" dirty="0"/>
              <a:t>Preview of SSR</a:t>
            </a:r>
          </a:p>
        </p:txBody>
      </p:sp>
    </p:spTree>
    <p:extLst>
      <p:ext uri="{BB962C8B-B14F-4D97-AF65-F5344CB8AC3E}">
        <p14:creationId xmlns:p14="http://schemas.microsoft.com/office/powerpoint/2010/main" val="123132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EED0-DDE6-8C55-40FD-B519647B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B982-B120-50FB-49C1-AD22E1B1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Connecting</a:t>
            </a:r>
          </a:p>
        </p:txBody>
      </p:sp>
    </p:spTree>
    <p:extLst>
      <p:ext uri="{BB962C8B-B14F-4D97-AF65-F5344CB8AC3E}">
        <p14:creationId xmlns:p14="http://schemas.microsoft.com/office/powerpoint/2010/main" val="126031711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C1F16-3474-C259-3A81-449262C38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7A18-9B1C-5D39-C1F3-CA18B29F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Where does the UI come from?</a:t>
            </a:r>
            <a:endParaRPr lang="en-CA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2C2F-55AB-166E-85E7-C1815433E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When you visit a website: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Where does the HTML come from?</a:t>
            </a:r>
          </a:p>
          <a:p>
            <a:r>
              <a:rPr lang="en-US" dirty="0"/>
              <a:t>When is it created?</a:t>
            </a:r>
          </a:p>
          <a:p>
            <a:r>
              <a:rPr lang="en-US" dirty="0"/>
              <a:t>What role does JavaScript play?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92794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D6A62-3096-7ED3-BDC9-4D99E862D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E158D-8B33-384D-036A-A2E8BEE67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Traditional web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6D78C-59A2-8039-9E4E-B772C6A45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Typical flow: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Browser requests a URL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Server generates HTML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Browser renders the page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Navigation causes full page reloads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server is responsible for rendering.</a:t>
            </a:r>
          </a:p>
        </p:txBody>
      </p:sp>
    </p:spTree>
    <p:extLst>
      <p:ext uri="{BB962C8B-B14F-4D97-AF65-F5344CB8AC3E}">
        <p14:creationId xmlns:p14="http://schemas.microsoft.com/office/powerpoint/2010/main" val="487249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F8BAC-9251-5B78-45AF-DD712BD8A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983AA-516C-D39A-6F4A-ED29CF3C1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React applications (CSR)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C294F-96C3-29CC-38F3-15E8CF23C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Typical flow: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Browser requests a URL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Server returns minimal HTML + JavaScript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JavaScript loads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React renders the UI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Navigation happens without full reloads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browser is responsible for rendering.</a:t>
            </a:r>
          </a:p>
        </p:txBody>
      </p:sp>
    </p:spTree>
    <p:extLst>
      <p:ext uri="{BB962C8B-B14F-4D97-AF65-F5344CB8AC3E}">
        <p14:creationId xmlns:p14="http://schemas.microsoft.com/office/powerpoint/2010/main" val="1578059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52A6-B6C0-A97B-A6FC-A05487E6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162D-6F79-9F91-305A-598E214D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How CSR Works</a:t>
            </a:r>
          </a:p>
        </p:txBody>
      </p:sp>
    </p:spTree>
    <p:extLst>
      <p:ext uri="{BB962C8B-B14F-4D97-AF65-F5344CB8AC3E}">
        <p14:creationId xmlns:p14="http://schemas.microsoft.com/office/powerpoint/2010/main" val="1731326145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1949-70E6-524C-C90E-FD61F575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Initial 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D638-C70C-9E14-E05B-EC549CBAB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React apps often start with a minimal HTML shell: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&lt;div id="root"&gt;&lt;/div&gt;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&lt;script type="module"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="/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main.jsx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"&gt;&lt;/script&gt;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There is no visible UI yet.</a:t>
            </a:r>
          </a:p>
        </p:txBody>
      </p:sp>
    </p:spTree>
    <p:extLst>
      <p:ext uri="{BB962C8B-B14F-4D97-AF65-F5344CB8AC3E}">
        <p14:creationId xmlns:p14="http://schemas.microsoft.com/office/powerpoint/2010/main" val="4045460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D70BC-5FAD-9DED-1C64-E6E20035D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C827E-5CA3-4B10-6A81-CE7A0690B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Rendering flow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C62FA14-002A-19F7-3EC1-B639366A30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64847" y="1690688"/>
            <a:ext cx="2455153" cy="389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760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8F398-DAD9-BE32-3C3B-27731F4AE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9D3E6-9E60-C188-A728-8C6077E40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24D6C-F782-C384-5EB9-2BCB4E2E8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843"/>
            <a:ext cx="10515600" cy="32897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Client-Side Rendering means: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browser builds the UI</a:t>
            </a:r>
          </a:p>
          <a:p>
            <a:r>
              <a:rPr lang="en-US" dirty="0"/>
              <a:t>JavaScript is required before the app appears</a:t>
            </a:r>
          </a:p>
        </p:txBody>
      </p:sp>
    </p:spTree>
    <p:extLst>
      <p:ext uri="{BB962C8B-B14F-4D97-AF65-F5344CB8AC3E}">
        <p14:creationId xmlns:p14="http://schemas.microsoft.com/office/powerpoint/2010/main" val="2023088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D1674-0C00-994F-3851-3DD0F7D40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86F6-244E-2771-CFCA-127394EA4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React + Routing Flow</a:t>
            </a:r>
          </a:p>
        </p:txBody>
      </p:sp>
    </p:spTree>
    <p:extLst>
      <p:ext uri="{BB962C8B-B14F-4D97-AF65-F5344CB8AC3E}">
        <p14:creationId xmlns:p14="http://schemas.microsoft.com/office/powerpoint/2010/main" val="2511367113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9163E-1081-E88F-87A2-ECA51F69E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52FCD-7BB1-8A45-DB4F-53ABB1549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8910"/>
            <a:ext cx="10515600" cy="306361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React initializes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router determines the route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Route loaders fetch data (if used)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Components render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UI becomes visible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9114CF-D445-E382-C653-68207AC37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What happens after JavaScript loads?</a:t>
            </a:r>
          </a:p>
        </p:txBody>
      </p:sp>
    </p:spTree>
    <p:extLst>
      <p:ext uri="{BB962C8B-B14F-4D97-AF65-F5344CB8AC3E}">
        <p14:creationId xmlns:p14="http://schemas.microsoft.com/office/powerpoint/2010/main" val="4261240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F1E31-F02A-24EC-1A0B-AEAE6DBEF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078D6-9306-1845-24B0-8A5960706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6966"/>
            <a:ext cx="10515600" cy="35155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After the first load: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navigation is handled by the client</a:t>
            </a:r>
          </a:p>
          <a:p>
            <a:r>
              <a:rPr lang="en-US" dirty="0"/>
              <a:t>no full page reload</a:t>
            </a:r>
          </a:p>
          <a:p>
            <a:r>
              <a:rPr lang="en-US" dirty="0"/>
              <a:t>only data may be fetched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creates a smoother user experience.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DCA288-564C-F0D9-84EF-E5B7F0E33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Navigation in CSR</a:t>
            </a:r>
          </a:p>
        </p:txBody>
      </p:sp>
    </p:spTree>
    <p:extLst>
      <p:ext uri="{BB962C8B-B14F-4D97-AF65-F5344CB8AC3E}">
        <p14:creationId xmlns:p14="http://schemas.microsoft.com/office/powerpoint/2010/main" val="4114144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B458B-4D7A-BF7A-9F6A-4BF8EA3EE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E8248-79D7-26D0-D9BD-A347423B2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8910"/>
            <a:ext cx="10515600" cy="30636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Even with route loaders: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rendering still happens in the browser</a:t>
            </a:r>
          </a:p>
          <a:p>
            <a:r>
              <a:rPr lang="en-US" dirty="0"/>
              <a:t>data loading is still initiated from the client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still CSR.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5387F6-C140-F0C8-01D1-0C1C40F98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Important distinction</a:t>
            </a:r>
          </a:p>
        </p:txBody>
      </p:sp>
    </p:spTree>
    <p:extLst>
      <p:ext uri="{BB962C8B-B14F-4D97-AF65-F5344CB8AC3E}">
        <p14:creationId xmlns:p14="http://schemas.microsoft.com/office/powerpoint/2010/main" val="1045713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E8DDC-5CAF-8C2E-AC71-BD16391A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FF2E8-4E54-ED2C-0752-EE01D1D68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Observing CSR</a:t>
            </a:r>
          </a:p>
        </p:txBody>
      </p:sp>
    </p:spTree>
    <p:extLst>
      <p:ext uri="{BB962C8B-B14F-4D97-AF65-F5344CB8AC3E}">
        <p14:creationId xmlns:p14="http://schemas.microsoft.com/office/powerpoint/2010/main" val="1484660151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D9768-B8BB-1AEA-D538-D18DEA28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FE643-E95A-8E85-A833-3F24CA2C5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8910"/>
            <a:ext cx="10515600" cy="30636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Reload the application and observe: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HTML document</a:t>
            </a:r>
          </a:p>
          <a:p>
            <a:r>
              <a:rPr lang="en-US" dirty="0"/>
              <a:t>JavaScript files</a:t>
            </a:r>
          </a:p>
          <a:p>
            <a:r>
              <a:rPr lang="en-US" dirty="0"/>
              <a:t>CSS files</a:t>
            </a:r>
          </a:p>
          <a:p>
            <a:r>
              <a:rPr lang="en-US" dirty="0"/>
              <a:t>API requests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BC415C-6716-B5DF-F21D-5C67E3C3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/>
              <a:t>DevTools</a:t>
            </a:r>
            <a:r>
              <a:rPr lang="en-US" dirty="0"/>
              <a:t>: Network tab</a:t>
            </a:r>
          </a:p>
        </p:txBody>
      </p:sp>
    </p:spTree>
    <p:extLst>
      <p:ext uri="{BB962C8B-B14F-4D97-AF65-F5344CB8AC3E}">
        <p14:creationId xmlns:p14="http://schemas.microsoft.com/office/powerpoint/2010/main" val="3639527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17176-BA29-A6B4-FA31-120A15379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9B92B-BD69-A233-2C55-51F5EB3A7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842"/>
            <a:ext cx="10515600" cy="334739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Typical pattern: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HTML shell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JavaScript bundles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React starts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API requests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UI updates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6BA7F-6715-A130-8CE0-7CF89CC96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What loads first?</a:t>
            </a:r>
          </a:p>
        </p:txBody>
      </p:sp>
    </p:spTree>
    <p:extLst>
      <p:ext uri="{BB962C8B-B14F-4D97-AF65-F5344CB8AC3E}">
        <p14:creationId xmlns:p14="http://schemas.microsoft.com/office/powerpoint/2010/main" val="2423362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F38F2-85E5-2E11-0EB0-1C9AB4397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DAD85-4D77-A12E-A004-B0EE9A4A2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Navigation behavior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3C553-75D8-7927-58DA-97335849D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When clicking links: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URL changes</a:t>
            </a:r>
          </a:p>
          <a:p>
            <a:r>
              <a:rPr lang="en-US" dirty="0"/>
              <a:t>UI updates</a:t>
            </a:r>
          </a:p>
          <a:p>
            <a:r>
              <a:rPr lang="en-US" dirty="0"/>
              <a:t>no full document reload</a:t>
            </a:r>
          </a:p>
        </p:txBody>
      </p:sp>
    </p:spTree>
    <p:extLst>
      <p:ext uri="{BB962C8B-B14F-4D97-AF65-F5344CB8AC3E}">
        <p14:creationId xmlns:p14="http://schemas.microsoft.com/office/powerpoint/2010/main" val="39706068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EC1F1-084A-F978-AD19-FC8928A6B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43AC8-9404-3E45-2BB8-524319B1A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3903"/>
            <a:ext cx="10515600" cy="35786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happens if JavaScript is disabled?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HTML still loads</a:t>
            </a:r>
          </a:p>
          <a:p>
            <a:r>
              <a:rPr lang="en-US" dirty="0"/>
              <a:t>UI does not render properly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CSR depends heavily on JavaScript.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0C6EAF-1DC9-D8B5-DF9A-45643B5CA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Disable JavaScript</a:t>
            </a:r>
          </a:p>
        </p:txBody>
      </p:sp>
    </p:spTree>
    <p:extLst>
      <p:ext uri="{BB962C8B-B14F-4D97-AF65-F5344CB8AC3E}">
        <p14:creationId xmlns:p14="http://schemas.microsoft.com/office/powerpoint/2010/main" val="765638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49BB5-66C3-BD9B-A70C-B3B0E3966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85B8E-CFB5-5DB8-9F62-98193E27C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Advantages of CSR</a:t>
            </a:r>
          </a:p>
        </p:txBody>
      </p:sp>
    </p:spTree>
    <p:extLst>
      <p:ext uri="{BB962C8B-B14F-4D97-AF65-F5344CB8AC3E}">
        <p14:creationId xmlns:p14="http://schemas.microsoft.com/office/powerpoint/2010/main" val="3204336034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F4DF5-C5B7-AC2B-CFAC-275099BED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CA10B-6FFF-220E-56FC-BDB9B4349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Strengths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8A028-59EF-1FDB-C602-31C4B53BD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Smooth in-app navigation</a:t>
            </a:r>
          </a:p>
          <a:p>
            <a:r>
              <a:rPr lang="en-US" dirty="0"/>
              <a:t>Rich interactivity</a:t>
            </a:r>
          </a:p>
          <a:p>
            <a:r>
              <a:rPr lang="en-US" dirty="0"/>
              <a:t>Strong component model</a:t>
            </a:r>
          </a:p>
          <a:p>
            <a:r>
              <a:rPr lang="en-US" dirty="0"/>
              <a:t>Can be deployed as static assets</a:t>
            </a:r>
          </a:p>
          <a:p>
            <a:r>
              <a:rPr lang="en-US" dirty="0"/>
              <a:t>Excellent for dynamic applications</a:t>
            </a:r>
          </a:p>
        </p:txBody>
      </p:sp>
    </p:spTree>
    <p:extLst>
      <p:ext uri="{BB962C8B-B14F-4D97-AF65-F5344CB8AC3E}">
        <p14:creationId xmlns:p14="http://schemas.microsoft.com/office/powerpoint/2010/main" val="12098296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E1217-4E7C-751A-B572-15ABCBC6C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8F91F-8A0A-7D30-FC7B-71F88FBB9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 err="1"/>
              <a:t>Tradeoffs</a:t>
            </a:r>
            <a:r>
              <a:rPr lang="en-CA" dirty="0"/>
              <a:t> of CSR</a:t>
            </a:r>
          </a:p>
        </p:txBody>
      </p:sp>
    </p:spTree>
    <p:extLst>
      <p:ext uri="{BB962C8B-B14F-4D97-AF65-F5344CB8AC3E}">
        <p14:creationId xmlns:p14="http://schemas.microsoft.com/office/powerpoint/2010/main" val="2080014208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28D07-9C0A-212F-E672-573F73B89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2DE04-E2AD-DE52-5B46-79560BBFF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028C9-9414-0BD3-EE40-D4B26590A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Slower initial load</a:t>
            </a:r>
          </a:p>
          <a:p>
            <a:r>
              <a:rPr lang="en-US" dirty="0"/>
              <a:t>Requires JavaScript to render</a:t>
            </a:r>
          </a:p>
          <a:p>
            <a:r>
              <a:rPr lang="en-US" dirty="0"/>
              <a:t>Can delay meaningful content</a:t>
            </a:r>
          </a:p>
          <a:p>
            <a:r>
              <a:rPr lang="en-US" dirty="0"/>
              <a:t>More work on the client device</a:t>
            </a:r>
          </a:p>
        </p:txBody>
      </p:sp>
    </p:spTree>
    <p:extLst>
      <p:ext uri="{BB962C8B-B14F-4D97-AF65-F5344CB8AC3E}">
        <p14:creationId xmlns:p14="http://schemas.microsoft.com/office/powerpoint/2010/main" val="7623277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E0CB6-4F87-BC2A-3FD5-BCB3A3A2D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0A497-7A31-45E8-D451-B5B7004B4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perspective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8FB31-2570-DDEF-B755-77F8CC7DD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CSR is not better or worse.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is one rendering strategy with specific tradeoffs.</a:t>
            </a:r>
          </a:p>
        </p:txBody>
      </p:sp>
    </p:spTree>
    <p:extLst>
      <p:ext uri="{BB962C8B-B14F-4D97-AF65-F5344CB8AC3E}">
        <p14:creationId xmlns:p14="http://schemas.microsoft.com/office/powerpoint/2010/main" val="25175419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6FE78-0D47-0F11-CA5F-9128D9E13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E6F70-1974-3E03-5BE6-0694AA7DE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Comparing Rendering Strategies</a:t>
            </a:r>
          </a:p>
        </p:txBody>
      </p:sp>
    </p:spTree>
    <p:extLst>
      <p:ext uri="{BB962C8B-B14F-4D97-AF65-F5344CB8AC3E}">
        <p14:creationId xmlns:p14="http://schemas.microsoft.com/office/powerpoint/2010/main" val="1292335371"/>
      </p:ext>
    </p:extLst>
  </p:cSld>
  <p:clrMapOvr>
    <a:masterClrMapping/>
  </p:clrMapOvr>
  <p:transition spd="med">
    <p:pull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4FA57-10D5-A117-3A1B-B373D87DA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FBDEC-071A-F79E-5076-DA7D7D94E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Client-Side Rendering (CSR)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0A478-3982-31CF-B727-5AA691D88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Browser renders UI</a:t>
            </a:r>
          </a:p>
          <a:p>
            <a:r>
              <a:rPr lang="en-US" dirty="0"/>
              <a:t>Minimal initial HTML</a:t>
            </a:r>
          </a:p>
          <a:p>
            <a:r>
              <a:rPr lang="en-US" dirty="0"/>
              <a:t>Requires JavaScript to display content</a:t>
            </a:r>
          </a:p>
        </p:txBody>
      </p:sp>
    </p:spTree>
    <p:extLst>
      <p:ext uri="{BB962C8B-B14F-4D97-AF65-F5344CB8AC3E}">
        <p14:creationId xmlns:p14="http://schemas.microsoft.com/office/powerpoint/2010/main" val="24943338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2058A-0ACC-C4BF-5B4E-47CEC1DA2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A17BD-F614-DA73-0EEE-836E0DDE4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Server-Side Rendering (SSR)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EFDAD-F940-4BE6-EB55-66BB93E40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Server renders HTML</a:t>
            </a:r>
          </a:p>
          <a:p>
            <a:r>
              <a:rPr lang="en-US" dirty="0"/>
              <a:t>Browser receives ready-to-display content</a:t>
            </a:r>
          </a:p>
          <a:p>
            <a:r>
              <a:rPr lang="en-US" dirty="0"/>
              <a:t>JavaScript enhances interactivity after load</a:t>
            </a:r>
          </a:p>
        </p:txBody>
      </p:sp>
    </p:spTree>
    <p:extLst>
      <p:ext uri="{BB962C8B-B14F-4D97-AF65-F5344CB8AC3E}">
        <p14:creationId xmlns:p14="http://schemas.microsoft.com/office/powerpoint/2010/main" val="20887076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9EDF6-FF86-A375-E215-678189805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3DEEF-B8EE-2B67-4DC5-51BFFD175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difference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DB45E-0E9B-BAD9-6BC0-EB436701B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CSR:</a:t>
            </a:r>
          </a:p>
          <a:p>
            <a:r>
              <a:rPr lang="en-US" dirty="0"/>
              <a:t>UI built in browser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SSR:</a:t>
            </a:r>
          </a:p>
          <a:p>
            <a:r>
              <a:rPr lang="en-US" dirty="0"/>
              <a:t>UI built on server first</a:t>
            </a:r>
          </a:p>
        </p:txBody>
      </p:sp>
    </p:spTree>
    <p:extLst>
      <p:ext uri="{BB962C8B-B14F-4D97-AF65-F5344CB8AC3E}">
        <p14:creationId xmlns:p14="http://schemas.microsoft.com/office/powerpoint/2010/main" val="4939792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1D267-295B-8BC6-526B-F7AF72936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88993-A1E9-DD98-6466-3FA55B3B8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Quick Poll</a:t>
            </a:r>
          </a:p>
        </p:txBody>
      </p:sp>
    </p:spTree>
    <p:extLst>
      <p:ext uri="{BB962C8B-B14F-4D97-AF65-F5344CB8AC3E}">
        <p14:creationId xmlns:p14="http://schemas.microsoft.com/office/powerpoint/2010/main" val="412320587"/>
      </p:ext>
    </p:extLst>
  </p:cSld>
  <p:clrMapOvr>
    <a:masterClrMapping/>
  </p:clrMapOvr>
  <p:transition spd="med">
    <p:pull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9F378-947C-7BA3-AFE0-EFB3BB840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65DB5-5309-A725-8C04-D7ACAF334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happens first in a CSR React app?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51A40-7173-1A79-5623-9E424F676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Full HTML page is rendered by the server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JavaScript runs and builds the UI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Data is fetched before HTML loads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React components render on the server</a:t>
            </a:r>
          </a:p>
        </p:txBody>
      </p:sp>
    </p:spTree>
    <p:extLst>
      <p:ext uri="{BB962C8B-B14F-4D97-AF65-F5344CB8AC3E}">
        <p14:creationId xmlns:p14="http://schemas.microsoft.com/office/powerpoint/2010/main" val="8219635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F87A-EC3B-6F87-073F-5EA32E94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A4A7-5289-6F66-D4CE-FCD9F7DE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this lesson, we covered the following:</a:t>
            </a:r>
          </a:p>
          <a:p>
            <a:endParaRPr lang="en-US" dirty="0"/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Explain what a rendering strategy is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Describe how client-side rendering (CSR) works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Trace the flow from URL to UI in a React app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Compare CSR with traditional server rendering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Identify advantages and tradeoffs of CSR</a:t>
            </a:r>
          </a:p>
        </p:txBody>
      </p:sp>
    </p:spTree>
    <p:extLst>
      <p:ext uri="{BB962C8B-B14F-4D97-AF65-F5344CB8AC3E}">
        <p14:creationId xmlns:p14="http://schemas.microsoft.com/office/powerpoint/2010/main" val="34157582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17D3-7614-08E1-2AAC-01DF5836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BE39-AE9E-C416-EC64-744B7883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Explain: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client-side rendering is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the browser receives on initial load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One advantage of CSR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One tradeoff of CSR</a:t>
            </a:r>
          </a:p>
        </p:txBody>
      </p:sp>
    </p:spTree>
    <p:extLst>
      <p:ext uri="{BB962C8B-B14F-4D97-AF65-F5344CB8AC3E}">
        <p14:creationId xmlns:p14="http://schemas.microsoft.com/office/powerpoint/2010/main" val="148109383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Day N - PPT 1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PPT TEMPLATE" id="{48C832B7-36DA-FF42-A033-DC69DF6E754B}" vid="{12E7E523-AC5B-2043-BD48-32C2D6EE8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Day N - PPT 1</Template>
  <TotalTime>17316</TotalTime>
  <Words>635</Words>
  <Application>Microsoft Macintosh PowerPoint</Application>
  <PresentationFormat>Widescreen</PresentationFormat>
  <Paragraphs>171</Paragraphs>
  <Slides>33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Aptos</vt:lpstr>
      <vt:lpstr>Arial</vt:lpstr>
      <vt:lpstr>Consolas</vt:lpstr>
      <vt:lpstr>Day N - PPT 1</vt:lpstr>
      <vt:lpstr>SDEV2150</vt:lpstr>
      <vt:lpstr>Lesson Objectives</vt:lpstr>
      <vt:lpstr>Agenda</vt:lpstr>
      <vt:lpstr>Connecting</vt:lpstr>
      <vt:lpstr>Where does the UI come from?</vt:lpstr>
      <vt:lpstr>Traditional web applications</vt:lpstr>
      <vt:lpstr>React applications (CSR)</vt:lpstr>
      <vt:lpstr>How CSR Works</vt:lpstr>
      <vt:lpstr>Initial HTML</vt:lpstr>
      <vt:lpstr>Rendering flow</vt:lpstr>
      <vt:lpstr>Key idea</vt:lpstr>
      <vt:lpstr>React + Routing Flow</vt:lpstr>
      <vt:lpstr>What happens after JavaScript loads?</vt:lpstr>
      <vt:lpstr>Navigation in CSR</vt:lpstr>
      <vt:lpstr>Important distinction</vt:lpstr>
      <vt:lpstr>Observing CSR</vt:lpstr>
      <vt:lpstr>DevTools: Network tab</vt:lpstr>
      <vt:lpstr>What loads first?</vt:lpstr>
      <vt:lpstr>Navigation behavior</vt:lpstr>
      <vt:lpstr>Disable JavaScript</vt:lpstr>
      <vt:lpstr>Advantages of CSR</vt:lpstr>
      <vt:lpstr>Strengths</vt:lpstr>
      <vt:lpstr>Tradeoffs of CSR</vt:lpstr>
      <vt:lpstr>Limitations</vt:lpstr>
      <vt:lpstr>Important perspective</vt:lpstr>
      <vt:lpstr>Comparing Rendering Strategies</vt:lpstr>
      <vt:lpstr>Client-Side Rendering (CSR)</vt:lpstr>
      <vt:lpstr>Server-Side Rendering (SSR)</vt:lpstr>
      <vt:lpstr>Key difference</vt:lpstr>
      <vt:lpstr>Quick Poll</vt:lpstr>
      <vt:lpstr>What happens first in a CSR React app?</vt:lpstr>
      <vt:lpstr>Lesson Summary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Humphrey</dc:creator>
  <cp:lastModifiedBy>Nathan Humphrey</cp:lastModifiedBy>
  <cp:revision>258</cp:revision>
  <dcterms:created xsi:type="dcterms:W3CDTF">2025-05-09T22:20:28Z</dcterms:created>
  <dcterms:modified xsi:type="dcterms:W3CDTF">2026-03-25T00:01:50Z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2025-05-09T22:21:39Z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ea09c963-5839-457c-a351-7e2868c7baef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
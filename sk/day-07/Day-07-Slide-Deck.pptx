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3"/>
  </p:notesMasterIdLst>
  <p:sldIdLst>
    <p:sldId id="256" r:id="rId2"/>
    <p:sldId id="257" r:id="rId3"/>
    <p:sldId id="282" r:id="rId4"/>
    <p:sldId id="306" r:id="rId5"/>
    <p:sldId id="322" r:id="rId6"/>
    <p:sldId id="307" r:id="rId7"/>
    <p:sldId id="303" r:id="rId8"/>
    <p:sldId id="342" r:id="rId9"/>
    <p:sldId id="334" r:id="rId10"/>
    <p:sldId id="335" r:id="rId11"/>
    <p:sldId id="336" r:id="rId12"/>
    <p:sldId id="337" r:id="rId13"/>
    <p:sldId id="338" r:id="rId14"/>
    <p:sldId id="339" r:id="rId15"/>
    <p:sldId id="340" r:id="rId16"/>
    <p:sldId id="341" r:id="rId17"/>
    <p:sldId id="308" r:id="rId18"/>
    <p:sldId id="301" r:id="rId19"/>
    <p:sldId id="309" r:id="rId20"/>
    <p:sldId id="302" r:id="rId21"/>
    <p:sldId id="310" r:id="rId22"/>
    <p:sldId id="304" r:id="rId23"/>
    <p:sldId id="323" r:id="rId24"/>
    <p:sldId id="324" r:id="rId25"/>
    <p:sldId id="325" r:id="rId26"/>
    <p:sldId id="326" r:id="rId27"/>
    <p:sldId id="332" r:id="rId28"/>
    <p:sldId id="331" r:id="rId29"/>
    <p:sldId id="295" r:id="rId30"/>
    <p:sldId id="258" r:id="rId31"/>
    <p:sldId id="281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4"/>
    <p:restoredTop sz="94679"/>
  </p:normalViewPr>
  <p:slideViewPr>
    <p:cSldViewPr snapToGrid="0">
      <p:cViewPr varScale="1">
        <p:scale>
          <a:sx n="121" d="100"/>
          <a:sy n="121" d="100"/>
        </p:scale>
        <p:origin x="59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3411B5-A9B8-6D4E-A83B-91456309AD37}" type="datetimeFigureOut">
              <a:rPr lang="en-US" smtClean="0"/>
              <a:t>1/24/26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6114E8-53D3-EB43-8A56-360BB7DBBF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718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BAB49-A5B2-6384-E3DF-547F4B224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B33F74-9E95-3FF6-D454-C8FE8B02CC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4A9C78-3715-9929-CCA0-CC917FE0A3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A795B-34AA-88EC-21E0-9B502A3D23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42019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C1B27-2AC3-687F-17B8-760C59F1F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133A79-D1B1-1F5C-EEF5-578504509A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A4A97B-D8F8-4C45-E58C-57115F947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15220-2AE2-A6FC-8F7F-808067A00F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35740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B8AA7-95E9-3549-30F3-2B533AA02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BB8752-C939-E0A6-D433-09EC253517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AE5380-5FAF-1495-42D4-FB958EF0A2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BC8A2B-F13F-2168-981D-62E0E4A036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906650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E58AE-DEED-BC57-6253-696256AE0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8DBE22-9D5B-5966-0EA6-85F9746DF2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91F618-0C8C-26E0-0CF1-90EC2F5C9E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D35597-1F79-E4C0-22A0-04F83E6E2B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935832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62E75-D6E9-AF40-79FD-BBF2AE7EA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DD9E8F-1DEE-EFDC-0F2E-E5EF66A1A4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0E6843-AC39-91E1-04D7-F037F8791C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7C37E-2DCA-C71C-77B6-850E14E586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805498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A4C01-C84C-9427-B684-2E837D486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9925F4-851D-1E92-3AE0-0CC265989F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6C2922-EE37-3755-0762-3D6AAAEEA3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ACD58-4EA1-A06B-85CC-C9B4D93CC6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28724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EC574-A905-95F7-797C-4FA7A8083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5B7DDF-4AA7-6743-EAB2-7A480F0638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495D3D-991D-DD34-AB5A-0FF581FE6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BA23A-9C12-1013-24A0-75A7389809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29116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908C1-6B38-83B0-6F8E-65306B3C6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B24D64-C5B1-AC25-0CDB-BB2466AC4A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986E11-5C29-1691-D1F2-ACB0244F47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C69F6B-D2F4-9822-B9B2-F78F518E76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787646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3B617-4F47-3ACB-BD71-153E99ADF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7A4BCC-80D5-4C3D-513A-1969F301C5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D2D5AB-FA8B-B462-3F99-D8AFFFA660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CE58CC-A89C-DB8D-1C4A-011EE89341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666771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1EE06-EC41-2887-B8ED-376F549D2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45B921-CA69-E45C-3AD2-5213B2EEE0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CB9419-CAC7-64D7-6265-A9D5A30EF3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3764FC-9DDD-7E08-4052-EF94133CF8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753979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5AD3C-FADE-36D0-9862-EB1163B14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D1821E-663C-E0C1-64B7-8D2AAAD4D4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ADF94A-11EC-BA07-6F22-BA7642B949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ACBB5-5674-97AD-0CB0-5451BC677F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395091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A95FE-028A-44DE-35F6-B39A8E93C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1FD383-7670-3BEA-08AD-9FB7AB43C3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7ECF45-17CA-AC2D-D210-3D0C3375B1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E832F1-6778-3FAA-BE7D-E4E57A6F0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301574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8B9B7-AA58-4CCF-7FBD-2FAEE5CE1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D391BD-E210-773F-DA51-92AB6912AD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644E31-2BBF-CA80-62DE-B11A84511C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8057C-6C08-54ED-4358-46C9C404CE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29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63218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641A9-FDE3-4583-B812-65C4064188F6}" type="slidenum">
              <a:rPr lang="en-CA" smtClean="0"/>
              <a:t>31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503611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2951" y="2539093"/>
            <a:ext cx="10606097" cy="1468891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8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2951" y="4376057"/>
            <a:ext cx="10606097" cy="113483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2"/>
                </a:solidFill>
              </a:defRPr>
            </a:lvl1pPr>
            <a:lvl2pPr marL="457177" indent="0" algn="ctr">
              <a:buNone/>
              <a:defRPr sz="2000"/>
            </a:lvl2pPr>
            <a:lvl3pPr marL="914355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3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127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8690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BAD23F-0E93-DF4A-8F98-CC7CE27E2020}"/>
              </a:ext>
            </a:extLst>
          </p:cNvPr>
          <p:cNvSpPr txBox="1"/>
          <p:nvPr/>
        </p:nvSpPr>
        <p:spPr>
          <a:xfrm>
            <a:off x="1981329" y="679939"/>
            <a:ext cx="1847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238325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45506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378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93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ighlight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81161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702183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AADA339-B7CC-2B4C-9CB9-A33E03B634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2951" y="2785277"/>
            <a:ext cx="10606097" cy="1468891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 cap="all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8191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r large charts/images/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8118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starburs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42831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2324503-65B2-B147-B7D0-901C284D8BB3}" type="datetimeFigureOut">
              <a:rPr lang="en-US" smtClean="0"/>
              <a:t>1/24/26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350AE0C-6DEA-8141-A29A-9086B1E53C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32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 algn="l" defTabSz="914355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589" indent="-228589" algn="l" defTabSz="91435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766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2943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120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297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475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5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3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algn="l" defTabSz="91435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react.dev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tailwindcss.com/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2479D-7383-A062-82D7-132E719500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SDEV2150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870D04-5049-481F-17B3-6CAD790966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Lesson 07: React Foundations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3962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1445B-2B4F-5954-E61B-77DD40F77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65CDC-2775-AA01-C4E4-CBD66BB41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this lesson, students will:</a:t>
            </a:r>
          </a:p>
          <a:p>
            <a:pPr marL="971550" lvl="1" indent="-514350"/>
            <a:r>
              <a:rPr lang="en-US" dirty="0"/>
              <a:t>Explain what a UI framework/library provides</a:t>
            </a:r>
          </a:p>
          <a:p>
            <a:pPr marL="971550" lvl="1" indent="-514350"/>
            <a:r>
              <a:rPr lang="en-US" dirty="0"/>
              <a:t>Describe how React components differ from Web Components</a:t>
            </a:r>
          </a:p>
          <a:p>
            <a:pPr marL="971550" lvl="1" indent="-514350"/>
            <a:r>
              <a:rPr lang="en-US" dirty="0"/>
              <a:t>Create static React components using JSX</a:t>
            </a:r>
          </a:p>
          <a:p>
            <a:pPr marL="971550" lvl="1" indent="-514350"/>
            <a:r>
              <a:rPr lang="en-US" dirty="0"/>
              <a:t>Apply Tailwind utility classes for layout and styling</a:t>
            </a:r>
          </a:p>
          <a:p>
            <a:pPr marL="971550" lvl="1" indent="-514350"/>
            <a:r>
              <a:rPr lang="en-US" dirty="0"/>
              <a:t>Identify a simple use of props as component inputs</a:t>
            </a:r>
          </a:p>
        </p:txBody>
      </p:sp>
    </p:spTree>
    <p:extLst>
      <p:ext uri="{BB962C8B-B14F-4D97-AF65-F5344CB8AC3E}">
        <p14:creationId xmlns:p14="http://schemas.microsoft.com/office/powerpoint/2010/main" val="1973787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6C05A-AE25-1768-8A9B-9E1C61225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481B4-3432-EE69-114F-1E97A4260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frameworks exist</a:t>
            </a:r>
          </a:p>
          <a:p>
            <a:r>
              <a:rPr lang="en-US" dirty="0"/>
              <a:t>Introducing React and Vite</a:t>
            </a:r>
          </a:p>
          <a:p>
            <a:r>
              <a:rPr lang="en-US" dirty="0"/>
              <a:t>JSX and component structure</a:t>
            </a:r>
          </a:p>
          <a:p>
            <a:r>
              <a:rPr lang="en-US" dirty="0"/>
              <a:t>Tailwind for styling</a:t>
            </a:r>
          </a:p>
          <a:p>
            <a:r>
              <a:rPr lang="en-US" dirty="0"/>
              <a:t>Static component composition</a:t>
            </a:r>
          </a:p>
        </p:txBody>
      </p:sp>
    </p:spTree>
    <p:extLst>
      <p:ext uri="{BB962C8B-B14F-4D97-AF65-F5344CB8AC3E}">
        <p14:creationId xmlns:p14="http://schemas.microsoft.com/office/powerpoint/2010/main" val="1231324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AEED0-DDE6-8C55-40FD-B519647BD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1B982-B120-50FB-49C1-AD22E1B10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Connecting</a:t>
            </a:r>
          </a:p>
        </p:txBody>
      </p:sp>
    </p:spTree>
    <p:extLst>
      <p:ext uri="{BB962C8B-B14F-4D97-AF65-F5344CB8AC3E}">
        <p14:creationId xmlns:p14="http://schemas.microsoft.com/office/powerpoint/2010/main" val="1260317111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C1F16-3474-C259-3A81-449262C38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D7A18-9B1C-5D39-C1F3-CA18B29F3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Where we are coming from</a:t>
            </a:r>
            <a:endParaRPr lang="en-CA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A2C2F-55AB-166E-85E7-C1815433E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Vanilla JavaScript</a:t>
            </a:r>
          </a:p>
          <a:p>
            <a:r>
              <a:rPr lang="en-US" dirty="0"/>
              <a:t>Web Components</a:t>
            </a:r>
          </a:p>
          <a:p>
            <a:r>
              <a:rPr lang="en-US" dirty="0"/>
              <a:t>Manual DOM updates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All of this still works.</a:t>
            </a:r>
          </a:p>
          <a:p>
            <a:pPr marL="0" indent="0">
              <a:buNone/>
            </a:pPr>
            <a:r>
              <a:rPr lang="en-CA" dirty="0"/>
              <a:t>Frameworks change </a:t>
            </a:r>
            <a:r>
              <a:rPr lang="en-CA" i="1" dirty="0"/>
              <a:t>how</a:t>
            </a:r>
            <a:r>
              <a:rPr lang="en-CA" dirty="0"/>
              <a:t> we organize and scale UI.</a:t>
            </a: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927948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A52A6-B6C0-A97B-A6FC-A05487E60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2162D-6F79-9F91-305A-598E214D9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Why Libraries and Frameworks?</a:t>
            </a:r>
          </a:p>
        </p:txBody>
      </p:sp>
    </p:spTree>
    <p:extLst>
      <p:ext uri="{BB962C8B-B14F-4D97-AF65-F5344CB8AC3E}">
        <p14:creationId xmlns:p14="http://schemas.microsoft.com/office/powerpoint/2010/main" val="1731326145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21949-70E6-524C-C90E-FD61F5759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 they solve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8D638-C70C-9E14-E05B-EC549CBAB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Growing UI complexity</a:t>
            </a:r>
          </a:p>
          <a:p>
            <a:r>
              <a:rPr lang="en-US" dirty="0"/>
              <a:t>Repeated patterns</a:t>
            </a:r>
          </a:p>
          <a:p>
            <a:r>
              <a:rPr lang="en-US" dirty="0"/>
              <a:t>Hard-to-track DOM updates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CA" dirty="0"/>
              <a:t>Libraries provide functionality, tools, and flexibility.</a:t>
            </a:r>
          </a:p>
          <a:p>
            <a:pPr marL="0" indent="0">
              <a:buNone/>
            </a:pPr>
            <a:r>
              <a:rPr lang="en-US" dirty="0"/>
              <a:t>Frameworks provide structure and conventions. </a:t>
            </a:r>
          </a:p>
        </p:txBody>
      </p:sp>
    </p:spTree>
    <p:extLst>
      <p:ext uri="{BB962C8B-B14F-4D97-AF65-F5344CB8AC3E}">
        <p14:creationId xmlns:p14="http://schemas.microsoft.com/office/powerpoint/2010/main" val="4045460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C3932-1F51-8F04-4501-BFDA63936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 frameworks libraries?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29AD5-7EEF-A6B5-9788-0A900F264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Often, the term framework is applied to libraries</a:t>
            </a:r>
          </a:p>
          <a:p>
            <a:r>
              <a:rPr lang="en-US" dirty="0"/>
              <a:t>It may be helpful to think of a framework as an opinionated library</a:t>
            </a:r>
          </a:p>
          <a:p>
            <a:r>
              <a:rPr lang="en-US" dirty="0"/>
              <a:t>We will use the term framework as an umbrella term for in this course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80154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E8DDC-5CAF-8C2E-AC71-BD16391A4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FF2E8-4E54-ED2C-0752-EE01D1D68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React at a High Level</a:t>
            </a:r>
          </a:p>
        </p:txBody>
      </p:sp>
    </p:spTree>
    <p:extLst>
      <p:ext uri="{BB962C8B-B14F-4D97-AF65-F5344CB8AC3E}">
        <p14:creationId xmlns:p14="http://schemas.microsoft.com/office/powerpoint/2010/main" val="1484660151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39576-5427-0ADA-10F4-865ACD2F3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E519A-A233-24D7-52BE-831AD2B5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React gives 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6DEC3-94B8-5AF7-B03D-628C50C5A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Component-based UI</a:t>
            </a:r>
          </a:p>
          <a:p>
            <a:r>
              <a:rPr lang="en-US" dirty="0"/>
              <a:t>Declarative rendering</a:t>
            </a:r>
          </a:p>
          <a:p>
            <a:r>
              <a:rPr lang="en-US" dirty="0"/>
              <a:t>A predictable mental model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React does not replace JavaScript.</a:t>
            </a:r>
          </a:p>
          <a:p>
            <a:pPr marL="0" indent="0">
              <a:buNone/>
            </a:pPr>
            <a:r>
              <a:rPr lang="en-US" dirty="0"/>
              <a:t>It builds on it.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https://react.dev/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461769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44B37-6330-3D14-994A-856BB88E2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0D9DD-B0CB-06AD-DA6C-A16CABA60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Vite as the Tooling Layer</a:t>
            </a:r>
          </a:p>
        </p:txBody>
      </p:sp>
    </p:spTree>
    <p:extLst>
      <p:ext uri="{BB962C8B-B14F-4D97-AF65-F5344CB8AC3E}">
        <p14:creationId xmlns:p14="http://schemas.microsoft.com/office/powerpoint/2010/main" val="3341591696"/>
      </p:ext>
    </p:extLst>
  </p:cSld>
  <p:clrMapOvr>
    <a:masterClrMapping/>
  </p:clrMapOvr>
  <p:transition spd="med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D9768-B8BB-1AEA-D538-D18DEA286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D0AB4-581D-3B24-E768-6DC3BCB7C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we use Vite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FE643-E95A-8E85-A833-3F24CA2C5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Fast dev server</a:t>
            </a:r>
          </a:p>
          <a:p>
            <a:r>
              <a:rPr lang="en-US" dirty="0"/>
              <a:t>Modern defaults</a:t>
            </a:r>
          </a:p>
          <a:p>
            <a:r>
              <a:rPr lang="en-US" dirty="0"/>
              <a:t>Minimal configuration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Vite handles the build so we can focus on UI.</a:t>
            </a:r>
          </a:p>
        </p:txBody>
      </p:sp>
    </p:spTree>
    <p:extLst>
      <p:ext uri="{BB962C8B-B14F-4D97-AF65-F5344CB8AC3E}">
        <p14:creationId xmlns:p14="http://schemas.microsoft.com/office/powerpoint/2010/main" val="36395276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21F8D-058A-8175-F2A7-5821479AD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F7730-3BB5-F427-473C-7B2489915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JSX</a:t>
            </a:r>
          </a:p>
        </p:txBody>
      </p:sp>
    </p:spTree>
    <p:extLst>
      <p:ext uri="{BB962C8B-B14F-4D97-AF65-F5344CB8AC3E}">
        <p14:creationId xmlns:p14="http://schemas.microsoft.com/office/powerpoint/2010/main" val="746458785"/>
      </p:ext>
    </p:extLst>
  </p:cSld>
  <p:clrMapOvr>
    <a:masterClrMapping/>
  </p:clrMapOvr>
  <p:transition spd="med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EC1F1-084A-F978-AD19-FC8928A6B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40565-C5D2-B494-7F34-B87C4F83C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HTML-like syntax in JavaScript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43AC8-9404-3E45-2BB8-524319B1AC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Looks like HTML</a:t>
            </a:r>
          </a:p>
          <a:p>
            <a:r>
              <a:rPr lang="en-US" dirty="0"/>
              <a:t>Lives inside JavaScript files</a:t>
            </a:r>
          </a:p>
          <a:p>
            <a:r>
              <a:rPr lang="en-US" dirty="0"/>
              <a:t>Compiles to JavaScript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JSX describes what the UI </a:t>
            </a:r>
            <a:r>
              <a:rPr lang="en-US" b="1" dirty="0"/>
              <a:t>should look like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656389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49BB5-66C3-BD9B-A70C-B3B0E3966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85B8E-CFB5-5DB8-9F62-98193E27C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React Components</a:t>
            </a:r>
          </a:p>
        </p:txBody>
      </p:sp>
    </p:spTree>
    <p:extLst>
      <p:ext uri="{BB962C8B-B14F-4D97-AF65-F5344CB8AC3E}">
        <p14:creationId xmlns:p14="http://schemas.microsoft.com/office/powerpoint/2010/main" val="3204336034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2B89F-1AB9-8574-CCFA-ADBF88B73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23954-8CB9-D9D6-3E5A-0D9235836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 that return UI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95859-94EF-C7E0-B65A-C84A04C86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Components are functions</a:t>
            </a:r>
          </a:p>
          <a:p>
            <a:r>
              <a:rPr lang="en-US" dirty="0"/>
              <a:t>They return JSX</a:t>
            </a:r>
          </a:p>
          <a:p>
            <a:r>
              <a:rPr lang="en-US" dirty="0"/>
              <a:t>They describe part of the interface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For now, we will work static with components.</a:t>
            </a:r>
          </a:p>
        </p:txBody>
      </p:sp>
    </p:spTree>
    <p:extLst>
      <p:ext uri="{BB962C8B-B14F-4D97-AF65-F5344CB8AC3E}">
        <p14:creationId xmlns:p14="http://schemas.microsoft.com/office/powerpoint/2010/main" val="18301625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921E6-990F-3418-1CCF-0F1C7C0C6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F335C-98F7-A233-B3F9-B129C39A6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Static Components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71156263"/>
      </p:ext>
    </p:extLst>
  </p:cSld>
  <p:clrMapOvr>
    <a:masterClrMapping/>
  </p:clrMapOvr>
  <p:transition spd="med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899A8-F5D7-3FC8-C4E3-1C1B403ED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are </a:t>
            </a:r>
            <a:r>
              <a:rPr lang="en-US" i="1" dirty="0"/>
              <a:t>not</a:t>
            </a:r>
            <a:r>
              <a:rPr lang="en-US" dirty="0"/>
              <a:t> doing yet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7D136-F0B8-16E7-3E2E-AA9D4908A8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internal state</a:t>
            </a:r>
          </a:p>
          <a:p>
            <a:r>
              <a:rPr lang="en-US" dirty="0"/>
              <a:t>No side effects</a:t>
            </a:r>
          </a:p>
          <a:p>
            <a:r>
              <a:rPr lang="en-US" dirty="0"/>
              <a:t>Minimal prop usage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keeps the focus on structure and styling.</a:t>
            </a:r>
          </a:p>
        </p:txBody>
      </p:sp>
    </p:spTree>
    <p:extLst>
      <p:ext uri="{BB962C8B-B14F-4D97-AF65-F5344CB8AC3E}">
        <p14:creationId xmlns:p14="http://schemas.microsoft.com/office/powerpoint/2010/main" val="38004370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63FF2-718A-9065-98FF-79B579E05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DA39A-7D80-55AD-196A-84FB7A06F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A First Look at Props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97644104"/>
      </p:ext>
    </p:extLst>
  </p:cSld>
  <p:clrMapOvr>
    <a:masterClrMapping/>
  </p:clrMapOvr>
  <p:transition spd="med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322B3-1CE3-1E1B-90DB-A3F8D34D3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Props are inputs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3557C-A9AB-DCBE-122B-7D3F4D1463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Passed into a component</a:t>
            </a:r>
          </a:p>
          <a:p>
            <a:r>
              <a:rPr lang="en-CA" dirty="0"/>
              <a:t>Read-only</a:t>
            </a:r>
          </a:p>
          <a:p>
            <a:r>
              <a:rPr lang="en-CA" dirty="0"/>
              <a:t>Typically used for display</a:t>
            </a:r>
          </a:p>
          <a:p>
            <a:pPr marL="0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6158803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969E2-2604-57B7-BA36-ABE43CCA9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BCA8E-683C-3712-D44B-33515BC6E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b="1" dirty="0"/>
              <a:t>Component Composition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68515927"/>
      </p:ext>
    </p:extLst>
  </p:cSld>
  <p:clrMapOvr>
    <a:masterClrMapping/>
  </p:clrMapOvr>
  <p:transition spd="med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F1CE5-C4AC-4AAD-1BE2-61F7590DD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page from pieces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E5B33-C6D8-B4FA-51B9-2D89C29F4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Small components</a:t>
            </a:r>
          </a:p>
          <a:p>
            <a:r>
              <a:rPr lang="en-US" dirty="0"/>
              <a:t>Composed in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App.jsx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dirty="0"/>
              <a:t>Each component has one responsibility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This replaces manual DOM assembly.</a:t>
            </a:r>
          </a:p>
        </p:txBody>
      </p:sp>
    </p:spTree>
    <p:extLst>
      <p:ext uri="{BB962C8B-B14F-4D97-AF65-F5344CB8AC3E}">
        <p14:creationId xmlns:p14="http://schemas.microsoft.com/office/powerpoint/2010/main" val="11227875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E3A23-E8EF-8998-4BCB-7D3D2FD45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9089A-B2A5-EF23-AFB8-AE7917F53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Tailwind CSS</a:t>
            </a:r>
          </a:p>
        </p:txBody>
      </p:sp>
    </p:spTree>
    <p:extLst>
      <p:ext uri="{BB962C8B-B14F-4D97-AF65-F5344CB8AC3E}">
        <p14:creationId xmlns:p14="http://schemas.microsoft.com/office/powerpoint/2010/main" val="1986178434"/>
      </p:ext>
    </p:extLst>
  </p:cSld>
  <p:clrMapOvr>
    <a:masterClrMapping/>
  </p:clrMapOvr>
  <p:transition spd="med">
    <p:pull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9E877-0EA3-695E-C85E-0732EE5FF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7AC32-BC89-CE84-1701-B2335D5D7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Utility-first styling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2BF19-AB39-BE49-8C7C-3A29B18622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No pre-built components</a:t>
            </a:r>
          </a:p>
          <a:p>
            <a:r>
              <a:rPr lang="en-US" dirty="0"/>
              <a:t>Classes describe layout and spacing</a:t>
            </a:r>
          </a:p>
          <a:p>
            <a:r>
              <a:rPr lang="en-US" dirty="0"/>
              <a:t>Styles live close to markup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Tailwind trades abstraction for clarity.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https://tailwindcss.com/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660430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FB298-8217-C169-8161-DF413241C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E9014-C30C-F16A-8EF8-01B4CC4F2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Styling Strategy</a:t>
            </a:r>
          </a:p>
        </p:txBody>
      </p:sp>
    </p:spTree>
    <p:extLst>
      <p:ext uri="{BB962C8B-B14F-4D97-AF65-F5344CB8AC3E}">
        <p14:creationId xmlns:p14="http://schemas.microsoft.com/office/powerpoint/2010/main" val="3583935102"/>
      </p:ext>
    </p:extLst>
  </p:cSld>
  <p:clrMapOvr>
    <a:masterClrMapping/>
  </p:clrMapOvr>
  <p:transition spd="med">
    <p:pull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920B6-0F1F-328B-252A-75A46C4CA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51C8C-D6C9-F221-FD85-109992108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focus on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FC555-A632-BF7A-8E14-0139481121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Layout</a:t>
            </a:r>
          </a:p>
          <a:p>
            <a:r>
              <a:rPr lang="en-US" dirty="0"/>
              <a:t>Spacing</a:t>
            </a:r>
          </a:p>
          <a:p>
            <a:r>
              <a:rPr lang="en-US" dirty="0"/>
              <a:t>Alignment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Not pixel-perfect parity with the previous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40958475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504D3-F223-9EF4-EA4B-2E4719194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E4681-FBA1-4ED3-F886-DE9C12BA0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CA" dirty="0"/>
              <a:t>Comparing Old and New</a:t>
            </a:r>
          </a:p>
        </p:txBody>
      </p:sp>
    </p:spTree>
    <p:extLst>
      <p:ext uri="{BB962C8B-B14F-4D97-AF65-F5344CB8AC3E}">
        <p14:creationId xmlns:p14="http://schemas.microsoft.com/office/powerpoint/2010/main" val="939329546"/>
      </p:ext>
    </p:extLst>
  </p:cSld>
  <p:clrMapOvr>
    <a:masterClrMapping/>
  </p:clrMapOvr>
  <p:transition spd="med">
    <p:pull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23B49-A8F9-9C38-2146-F342BD258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Same domain, different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32C82-E7BD-14D4-6BE0-E8D72E4F4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Web Components vs React components</a:t>
            </a:r>
          </a:p>
          <a:p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main.js</a:t>
            </a:r>
            <a:r>
              <a:rPr lang="en-CA" dirty="0"/>
              <a:t> vs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main.jsx</a:t>
            </a: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CA" dirty="0"/>
              <a:t>Bootstrap vs Tailwind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r>
              <a:rPr lang="en-CA" dirty="0"/>
              <a:t>Different abstractions, same UI goals.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7868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9E497-0B96-A988-B0F7-8671A8753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D4F01-BCF7-C81D-4DF6-ED373D112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Hands-on Practice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A23C2-1004-2B1E-AEF1-B53F9E21E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CA" dirty="0"/>
              <a:t>Exercise: Update an existing component-based app load asynchronous data</a:t>
            </a:r>
          </a:p>
          <a:p>
            <a:pPr marL="0" indent="0">
              <a:buNone/>
            </a:pPr>
            <a:r>
              <a:rPr lang="en-CA" b="1" dirty="0"/>
              <a:t>Objective:</a:t>
            </a:r>
            <a:r>
              <a:rPr lang="en-CA" dirty="0"/>
              <a:t> Implement fetch API to retrieve and display dynamic data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Obtain the exercise starter files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Scaffold a React app with Vite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Configure Tailwind CSS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Create static components</a:t>
            </a: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Compose them in </a:t>
            </a:r>
            <a:r>
              <a:rPr lang="en-CA" dirty="0" err="1">
                <a:latin typeface="Consolas" panose="020B0609020204030204" pitchFamily="49" charset="0"/>
                <a:cs typeface="Consolas" panose="020B0609020204030204" pitchFamily="49" charset="0"/>
              </a:rPr>
              <a:t>App.jsx</a:t>
            </a:r>
            <a:endParaRPr lang="en-CA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971527" lvl="1" indent="-514350">
              <a:buFont typeface="+mj-lt"/>
              <a:buAutoNum type="arabicPeriod"/>
            </a:pPr>
            <a:r>
              <a:rPr lang="en-CA" dirty="0"/>
              <a:t>Ask questions if you are unsure of what to do or how the code works.</a:t>
            </a:r>
          </a:p>
          <a:p>
            <a:pPr marL="971527" lvl="1" indent="-514350">
              <a:buFont typeface="+mj-lt"/>
              <a:buAutoNum type="arabicPeriod"/>
            </a:pP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8885256"/>
      </p:ext>
    </p:extLst>
  </p:cSld>
  <p:clrMapOvr>
    <a:masterClrMapping/>
  </p:clrMapOvr>
  <p:transition spd="med">
    <p:pull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7F87A-EC3B-6F87-073F-5EA32E945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FA4A7-5289-6F66-D4CE-FCD9F7DE8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this lesson, we covered the following: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Explain what a UI framework/library provides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Describe how React components differ from Web Components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Create static React components using JSX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Apply Tailwind utility classes for layout and styling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Identify a simple use of props as component inputs</a:t>
            </a:r>
          </a:p>
          <a:p>
            <a:pPr marL="971550" lvl="1" indent="-514350">
              <a:buFont typeface="+mj-lt"/>
              <a:buAutoNum type="arabicPeriod"/>
            </a:pPr>
            <a:endParaRPr lang="en-US" dirty="0"/>
          </a:p>
          <a:p>
            <a:pPr marL="514373" indent="-514350"/>
            <a:r>
              <a:rPr lang="en-CA" dirty="0"/>
              <a:t>Complete lesson 7 checklist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7582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C17D3-7614-08E1-2AAC-01DF58360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3BE39-AE9E-C416-EC64-744B7883B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“What problem do frameworks solve?”</a:t>
            </a:r>
          </a:p>
          <a:p>
            <a:r>
              <a:rPr lang="en-US" dirty="0"/>
              <a:t>“How is JSX different from HTML?”</a:t>
            </a:r>
          </a:p>
          <a:p>
            <a:r>
              <a:rPr lang="en-US"/>
              <a:t>“What are props used for?”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1093830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Day N - PPT 1">
  <a:themeElements>
    <a:clrScheme name="NAIT 2020">
      <a:dk1>
        <a:sysClr val="windowText" lastClr="000000"/>
      </a:dk1>
      <a:lt1>
        <a:sysClr val="window" lastClr="FFFFFF"/>
      </a:lt1>
      <a:dk2>
        <a:srgbClr val="63666A"/>
      </a:dk2>
      <a:lt2>
        <a:srgbClr val="F2F2F2"/>
      </a:lt2>
      <a:accent1>
        <a:srgbClr val="002D74"/>
      </a:accent1>
      <a:accent2>
        <a:srgbClr val="00A0DF"/>
      </a:accent2>
      <a:accent3>
        <a:srgbClr val="005CB9"/>
      </a:accent3>
      <a:accent4>
        <a:srgbClr val="2AD2C9"/>
      </a:accent4>
      <a:accent5>
        <a:srgbClr val="97D700"/>
      </a:accent5>
      <a:accent6>
        <a:srgbClr val="F2A900"/>
      </a:accent6>
      <a:hlink>
        <a:srgbClr val="00AEFF"/>
      </a:hlink>
      <a:folHlink>
        <a:srgbClr val="981D9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IT PPT TEMPLATE" id="{48C832B7-36DA-FF42-A033-DC69DF6E754B}" vid="{12E7E523-AC5B-2043-BD48-32C2D6EE822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Day N - PPT 1</Template>
  <TotalTime>16709</TotalTime>
  <Words>585</Words>
  <Application>Microsoft Macintosh PowerPoint</Application>
  <PresentationFormat>Widescreen</PresentationFormat>
  <Paragraphs>143</Paragraphs>
  <Slides>31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Aptos</vt:lpstr>
      <vt:lpstr>Arial</vt:lpstr>
      <vt:lpstr>Consolas</vt:lpstr>
      <vt:lpstr>Day N - PPT 1</vt:lpstr>
      <vt:lpstr>SDEV2150</vt:lpstr>
      <vt:lpstr>Lesson Objectives</vt:lpstr>
      <vt:lpstr>Agenda</vt:lpstr>
      <vt:lpstr>Connecting</vt:lpstr>
      <vt:lpstr>Where we are coming from</vt:lpstr>
      <vt:lpstr>Why Libraries and Frameworks?</vt:lpstr>
      <vt:lpstr>The problem they solve</vt:lpstr>
      <vt:lpstr>Are frameworks libraries?</vt:lpstr>
      <vt:lpstr>React at a High Level</vt:lpstr>
      <vt:lpstr>What React gives us</vt:lpstr>
      <vt:lpstr>Vite as the Tooling Layer</vt:lpstr>
      <vt:lpstr>Why we use Vite</vt:lpstr>
      <vt:lpstr>JSX</vt:lpstr>
      <vt:lpstr>HTML-like syntax in JavaScript</vt:lpstr>
      <vt:lpstr>React Components</vt:lpstr>
      <vt:lpstr>Functions that return UI</vt:lpstr>
      <vt:lpstr>Static Components</vt:lpstr>
      <vt:lpstr>What we are not doing yet</vt:lpstr>
      <vt:lpstr>A First Look at Props</vt:lpstr>
      <vt:lpstr>Props are inputs</vt:lpstr>
      <vt:lpstr>Component Composition</vt:lpstr>
      <vt:lpstr>Building a page from pieces</vt:lpstr>
      <vt:lpstr>Tailwind CSS</vt:lpstr>
      <vt:lpstr>Utility-first styling</vt:lpstr>
      <vt:lpstr>Styling Strategy</vt:lpstr>
      <vt:lpstr>What we focus on today</vt:lpstr>
      <vt:lpstr>Comparing Old and New</vt:lpstr>
      <vt:lpstr>Same domain, different tools</vt:lpstr>
      <vt:lpstr>Hands-on Practice</vt:lpstr>
      <vt:lpstr>Lesson Summary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Nathan Humphrey</dc:creator>
  <cp:lastModifiedBy>Nathan Humphrey</cp:lastModifiedBy>
  <cp:revision>104</cp:revision>
  <dcterms:created xsi:type="dcterms:W3CDTF">2025-05-09T22:20:28Z</dcterms:created>
  <dcterms:modified xsi:type="dcterms:W3CDTF">2026-01-25T01:30:38Z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2025-05-09T22:21:39Z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ea09c963-5839-457c-a351-7e2868c7baef</vt:lpwstr>
  </property>
  <property fmtid="{D5CDD505-2E9C-101B-9397-08002B2CF9AE}" pid="8" name="MSIP_Label_10877899-02b0-462c-b2a9-b7d15c4f96fe_ContentBits">
    <vt:lpwstr>0</vt:lpwstr>
  </property>
  <property fmtid="{D5CDD505-2E9C-101B-9397-08002B2CF9AE}" pid="9" name="MSIP_Label_10877899-02b0-462c-b2a9-b7d15c4f96fe_Tag">
    <vt:lpwstr>50, 3, 0, 1</vt:lpwstr>
  </property>
</Properties>
</file>
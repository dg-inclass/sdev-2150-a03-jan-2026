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5"/>
  </p:notesMasterIdLst>
  <p:sldIdLst>
    <p:sldId id="256" r:id="rId2"/>
    <p:sldId id="257" r:id="rId3"/>
    <p:sldId id="282" r:id="rId4"/>
    <p:sldId id="306" r:id="rId5"/>
    <p:sldId id="322" r:id="rId6"/>
    <p:sldId id="371" r:id="rId7"/>
    <p:sldId id="393" r:id="rId8"/>
    <p:sldId id="307" r:id="rId9"/>
    <p:sldId id="372" r:id="rId10"/>
    <p:sldId id="303" r:id="rId11"/>
    <p:sldId id="374" r:id="rId12"/>
    <p:sldId id="343" r:id="rId13"/>
    <p:sldId id="375" r:id="rId14"/>
    <p:sldId id="376" r:id="rId15"/>
    <p:sldId id="394" r:id="rId16"/>
    <p:sldId id="334" r:id="rId17"/>
    <p:sldId id="377" r:id="rId18"/>
    <p:sldId id="395" r:id="rId19"/>
    <p:sldId id="396" r:id="rId20"/>
    <p:sldId id="384" r:id="rId21"/>
    <p:sldId id="378" r:id="rId22"/>
    <p:sldId id="337" r:id="rId23"/>
    <p:sldId id="354" r:id="rId24"/>
    <p:sldId id="385" r:id="rId25"/>
    <p:sldId id="360" r:id="rId26"/>
    <p:sldId id="339" r:id="rId27"/>
    <p:sldId id="362" r:id="rId28"/>
    <p:sldId id="340" r:id="rId29"/>
    <p:sldId id="386" r:id="rId30"/>
    <p:sldId id="387" r:id="rId31"/>
    <p:sldId id="363" r:id="rId32"/>
    <p:sldId id="397" r:id="rId33"/>
    <p:sldId id="364" r:id="rId34"/>
    <p:sldId id="401" r:id="rId35"/>
    <p:sldId id="402" r:id="rId36"/>
    <p:sldId id="398" r:id="rId37"/>
    <p:sldId id="383" r:id="rId38"/>
    <p:sldId id="399" r:id="rId39"/>
    <p:sldId id="404" r:id="rId40"/>
    <p:sldId id="403" r:id="rId41"/>
    <p:sldId id="400" r:id="rId42"/>
    <p:sldId id="409" r:id="rId43"/>
    <p:sldId id="410" r:id="rId44"/>
    <p:sldId id="411" r:id="rId45"/>
    <p:sldId id="406" r:id="rId46"/>
    <p:sldId id="407" r:id="rId47"/>
    <p:sldId id="408" r:id="rId48"/>
    <p:sldId id="412" r:id="rId49"/>
    <p:sldId id="295" r:id="rId50"/>
    <p:sldId id="352" r:id="rId51"/>
    <p:sldId id="353" r:id="rId52"/>
    <p:sldId id="258" r:id="rId53"/>
    <p:sldId id="281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94"/>
    <p:restoredTop sz="94679"/>
  </p:normalViewPr>
  <p:slideViewPr>
    <p:cSldViewPr snapToGrid="0">
      <p:cViewPr varScale="1">
        <p:scale>
          <a:sx n="121" d="100"/>
          <a:sy n="121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1F8B4-C819-6EB0-F2CD-C9EBF36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64FD0-F6C0-FEA2-4C37-1D9EB0F1B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BB1CB-F598-1519-2EB9-EAC15159A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ECBDE-8462-E6F0-EC57-3A870021B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3361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1B62-3F49-4272-CF02-C1A3F113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41A5A-EDED-1DCD-2543-9B6A53991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C3407-2F0F-BB76-D1C2-68596B121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DABC7-ADCB-A3AF-AC42-782565662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4651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F09EE-B949-9D1F-54D5-9E04C417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3D70E-84B2-D1D1-5FD0-99C21362C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CB833-191E-2228-5B58-D285404AA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A5133-714A-940E-9DB6-393BE715A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7548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08D64-6785-0C60-6343-81D21E89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8C403-A72C-BEA2-72EE-1FEE09E66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2CC1B-EDEB-90B3-7626-CD470A71B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E043-53BA-2CF7-43ED-5843DB44C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8183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FE693-677C-CD71-4F7D-BEEB429B7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E26F2-D3C2-2C36-A57F-B19BCFFC7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471E1-406E-4CDC-183F-0F7ABB1B9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09653-9AA6-A9C7-1BCD-6EF33CE53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7196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6B4F5-EF42-FCDD-02F6-F7068657A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A3FD9-5770-6FA4-6C8B-DC119B7CF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4CFA6-D851-2DF5-1B14-657E6608B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ED13-8562-D007-3EC6-FA2EDEA88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8308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27: Unit Testing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Explain why testing is important</a:t>
            </a:r>
          </a:p>
          <a:p>
            <a:r>
              <a:rPr lang="en-US" dirty="0"/>
              <a:t>Understand behavior-focused testing</a:t>
            </a:r>
          </a:p>
          <a:p>
            <a:r>
              <a:rPr lang="en-US" dirty="0"/>
              <a:t>Configure </a:t>
            </a:r>
            <a:r>
              <a:rPr lang="en-US" dirty="0" err="1"/>
              <a:t>Vitest</a:t>
            </a:r>
            <a:r>
              <a:rPr lang="en-US" dirty="0"/>
              <a:t> for browser testing</a:t>
            </a:r>
          </a:p>
          <a:p>
            <a:r>
              <a:rPr lang="en-US" dirty="0"/>
              <a:t>Write basic unit tests</a:t>
            </a:r>
          </a:p>
          <a:p>
            <a:r>
              <a:rPr lang="en-US" dirty="0"/>
              <a:t>Test component rendering and interaction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testing matters</a:t>
            </a:r>
          </a:p>
          <a:p>
            <a:r>
              <a:rPr lang="en-US" dirty="0"/>
              <a:t>Testing philosophy</a:t>
            </a:r>
          </a:p>
          <a:p>
            <a:r>
              <a:rPr lang="en-US" dirty="0"/>
              <a:t>Test setup overview</a:t>
            </a:r>
          </a:p>
          <a:p>
            <a:r>
              <a:rPr lang="en-US" dirty="0"/>
              <a:t>Writing your first test</a:t>
            </a:r>
          </a:p>
          <a:p>
            <a:r>
              <a:rPr lang="en-US" dirty="0"/>
              <a:t>Testing interactions</a:t>
            </a:r>
          </a:p>
          <a:p>
            <a:r>
              <a:rPr lang="en-US" dirty="0"/>
              <a:t>Key testing principles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have we accomplished so far…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Built components</a:t>
            </a:r>
          </a:p>
          <a:p>
            <a:r>
              <a:rPr lang="en-US" dirty="0"/>
              <a:t>Managed state</a:t>
            </a:r>
          </a:p>
          <a:p>
            <a:r>
              <a:rPr lang="en-US" dirty="0"/>
              <a:t>Fetched data</a:t>
            </a:r>
          </a:p>
          <a:p>
            <a:r>
              <a:rPr lang="en-US" dirty="0"/>
              <a:t>Created full applications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6A62-3096-7ED3-BDC9-4D99E862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158D-8B33-384D-036A-A2E8BEE6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new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D78C-59A2-8039-9E4E-B772C6A45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do we know our app works?</a:t>
            </a:r>
          </a:p>
        </p:txBody>
      </p:sp>
    </p:spTree>
    <p:extLst>
      <p:ext uri="{BB962C8B-B14F-4D97-AF65-F5344CB8AC3E}">
        <p14:creationId xmlns:p14="http://schemas.microsoft.com/office/powerpoint/2010/main" val="48724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CC11-8C94-BAA7-4ADD-441408C2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D7EF-F87A-2573-0248-C4765DBE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3234F-5768-B668-E951-8A80E44B7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need confidence when changing code.</a:t>
            </a:r>
          </a:p>
        </p:txBody>
      </p:sp>
    </p:spTree>
    <p:extLst>
      <p:ext uri="{BB962C8B-B14F-4D97-AF65-F5344CB8AC3E}">
        <p14:creationId xmlns:p14="http://schemas.microsoft.com/office/powerpoint/2010/main" val="390976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Test?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8BAC-9251-5B78-45AF-DD712BD8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83AA-516C-D39A-6F4A-ED29CF3C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helps us: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294F-96C3-29CC-38F3-15E8CF23C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821837"/>
          </a:xfrm>
        </p:spPr>
        <p:txBody>
          <a:bodyPr>
            <a:normAutofit/>
          </a:bodyPr>
          <a:lstStyle/>
          <a:p>
            <a:r>
              <a:rPr lang="en-US" dirty="0"/>
              <a:t>Prevent bugs</a:t>
            </a:r>
          </a:p>
          <a:p>
            <a:r>
              <a:rPr lang="en-US" dirty="0"/>
              <a:t>Verify behavior</a:t>
            </a:r>
          </a:p>
          <a:p>
            <a:r>
              <a:rPr lang="en-US" dirty="0"/>
              <a:t>Refactor safely</a:t>
            </a:r>
          </a:p>
        </p:txBody>
      </p:sp>
    </p:spTree>
    <p:extLst>
      <p:ext uri="{BB962C8B-B14F-4D97-AF65-F5344CB8AC3E}">
        <p14:creationId xmlns:p14="http://schemas.microsoft.com/office/powerpoint/2010/main" val="1578059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Without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Changes are risky</a:t>
            </a:r>
          </a:p>
          <a:p>
            <a:r>
              <a:rPr lang="en-US" dirty="0"/>
              <a:t>Bugs go unnoticed</a:t>
            </a:r>
          </a:p>
          <a:p>
            <a:r>
              <a:rPr lang="en-US" dirty="0"/>
              <a:t>Confidence is low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70BC-5FAD-9DED-1C64-E6E20035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827E-5CA3-4B10-6A81-CE7A0690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tests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F65CF2-00AE-1763-1EFC-8FC89DE11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821837"/>
          </a:xfrm>
        </p:spPr>
        <p:txBody>
          <a:bodyPr>
            <a:normAutofit/>
          </a:bodyPr>
          <a:lstStyle/>
          <a:p>
            <a:r>
              <a:rPr lang="en-US" dirty="0"/>
              <a:t>Safer changes</a:t>
            </a:r>
          </a:p>
          <a:p>
            <a:r>
              <a:rPr lang="en-US" dirty="0"/>
              <a:t>Faster development</a:t>
            </a:r>
          </a:p>
          <a:p>
            <a:r>
              <a:rPr lang="en-US" dirty="0"/>
              <a:t>Better quality</a:t>
            </a:r>
          </a:p>
        </p:txBody>
      </p:sp>
    </p:spTree>
    <p:extLst>
      <p:ext uri="{BB962C8B-B14F-4D97-AF65-F5344CB8AC3E}">
        <p14:creationId xmlns:p14="http://schemas.microsoft.com/office/powerpoint/2010/main" val="923760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Testing Philosophy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F398-DAD9-BE32-3C3B-27731F4A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D3E6-9E60-C188-A728-8C6077E4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Focus on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24D6C-F782-C384-5EB9-2BCB4E2E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3"/>
            <a:ext cx="10515600" cy="3289736"/>
          </a:xfrm>
        </p:spPr>
        <p:txBody>
          <a:bodyPr>
            <a:normAutofit/>
          </a:bodyPr>
          <a:lstStyle/>
          <a:p>
            <a:r>
              <a:rPr lang="en-US" dirty="0"/>
              <a:t>What the user sees</a:t>
            </a:r>
          </a:p>
          <a:p>
            <a:r>
              <a:rPr lang="en-US" dirty="0"/>
              <a:t>What the user does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088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163E-1081-E88F-87A2-ECA51F69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2FCD-7BB1-8A45-DB4F-53ABB1549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r>
              <a:rPr lang="en-US" dirty="0"/>
              <a:t>Internal state</a:t>
            </a:r>
          </a:p>
          <a:p>
            <a:r>
              <a:rPr lang="en-US" dirty="0"/>
              <a:t>Implementation details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114CF-D445-E382-C653-68207AC3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Avoid testing</a:t>
            </a:r>
          </a:p>
        </p:txBody>
      </p:sp>
    </p:spTree>
    <p:extLst>
      <p:ext uri="{BB962C8B-B14F-4D97-AF65-F5344CB8AC3E}">
        <p14:creationId xmlns:p14="http://schemas.microsoft.com/office/powerpoint/2010/main" val="426124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D9250-E592-787A-0CC4-76D02B41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A9A9-C984-4148-AAD3-6F82CA4EA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outcomes, not code structure</a:t>
            </a:r>
          </a:p>
        </p:txBody>
      </p:sp>
    </p:spTree>
    <p:extLst>
      <p:ext uri="{BB962C8B-B14F-4D97-AF65-F5344CB8AC3E}">
        <p14:creationId xmlns:p14="http://schemas.microsoft.com/office/powerpoint/2010/main" val="2710131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Testing Tools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1E31-F02A-24EC-1A0B-AEAE6DBE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78D6-9306-1845-24B0-8A5960706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6966"/>
            <a:ext cx="10515600" cy="35155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Vitest</a:t>
            </a:r>
            <a:r>
              <a:rPr lang="en-US" dirty="0"/>
              <a:t> (test runner)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Playwright (browser environment)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React Testing Library (render + queries)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CA288-564C-F0D9-84EF-E5B7F0E3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Our stack</a:t>
            </a:r>
          </a:p>
        </p:txBody>
      </p:sp>
    </p:spTree>
    <p:extLst>
      <p:ext uri="{BB962C8B-B14F-4D97-AF65-F5344CB8AC3E}">
        <p14:creationId xmlns:p14="http://schemas.microsoft.com/office/powerpoint/2010/main" val="4114144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7D11-CE4B-328A-B019-1CFCC442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each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9409-5002-5BCE-7B42-44297AAF8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Vitest</a:t>
            </a:r>
            <a:r>
              <a:rPr lang="en-US" dirty="0"/>
              <a:t> -&gt; runs tests</a:t>
            </a:r>
          </a:p>
          <a:p>
            <a:r>
              <a:rPr lang="en-US" dirty="0"/>
              <a:t>Playwright -&gt; real browser</a:t>
            </a:r>
          </a:p>
          <a:p>
            <a:r>
              <a:rPr lang="en-US" dirty="0"/>
              <a:t>Testing Library -&gt; interact with UI</a:t>
            </a:r>
          </a:p>
        </p:txBody>
      </p:sp>
    </p:spTree>
    <p:extLst>
      <p:ext uri="{BB962C8B-B14F-4D97-AF65-F5344CB8AC3E}">
        <p14:creationId xmlns:p14="http://schemas.microsoft.com/office/powerpoint/2010/main" val="3447756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B7B7-3F7B-7ECF-3BA9-0AF21E1B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784B5-A99D-2DC4-CF12-75CA40CEE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test in a real browser environment</a:t>
            </a:r>
          </a:p>
        </p:txBody>
      </p:sp>
    </p:spTree>
    <p:extLst>
      <p:ext uri="{BB962C8B-B14F-4D97-AF65-F5344CB8AC3E}">
        <p14:creationId xmlns:p14="http://schemas.microsoft.com/office/powerpoint/2010/main" val="4062934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C8F39-EA39-A20A-1C13-0DB48068A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7161-F20A-0E94-86B0-9AAEB5F0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First Test</a:t>
            </a:r>
          </a:p>
        </p:txBody>
      </p:sp>
    </p:spTree>
    <p:extLst>
      <p:ext uri="{BB962C8B-B14F-4D97-AF65-F5344CB8AC3E}">
        <p14:creationId xmlns:p14="http://schemas.microsoft.com/office/powerpoint/2010/main" val="1233260699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458B-4D7A-BF7A-9F6A-4BF8EA3E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8248-79D7-26D0-D9BD-A347423B2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821837"/>
          </a:xfrm>
        </p:spPr>
        <p:txBody>
          <a:bodyPr>
            <a:normAutofit/>
          </a:bodyPr>
          <a:lstStyle/>
          <a:p>
            <a:r>
              <a:rPr lang="en-US" dirty="0"/>
              <a:t>Render a component</a:t>
            </a:r>
          </a:p>
          <a:p>
            <a:r>
              <a:rPr lang="en-US" dirty="0"/>
              <a:t>Find an element</a:t>
            </a:r>
          </a:p>
          <a:p>
            <a:r>
              <a:rPr lang="en-US" dirty="0"/>
              <a:t>Assert it exists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387F6-C140-F0C8-01D1-0C1C40F9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are we doing?</a:t>
            </a:r>
          </a:p>
        </p:txBody>
      </p:sp>
    </p:spTree>
    <p:extLst>
      <p:ext uri="{BB962C8B-B14F-4D97-AF65-F5344CB8AC3E}">
        <p14:creationId xmlns:p14="http://schemas.microsoft.com/office/powerpoint/2010/main" val="1045713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382183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render component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query the UI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make an assertion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C415C-6716-B5DF-F21D-5C67E3C3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Example flow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3710"/>
            <a:ext cx="10515600" cy="24645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Render -&gt; Find -&gt; Assert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6BA7F-6715-A130-8CE0-7CF89CC9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Mental model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D6A8-33C1-0FE1-B3FB-80DC26B9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D589-C011-D4D5-0E43-C77918B6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Testing Rendering</a:t>
            </a:r>
          </a:p>
        </p:txBody>
      </p:sp>
    </p:spTree>
    <p:extLst>
      <p:ext uri="{BB962C8B-B14F-4D97-AF65-F5344CB8AC3E}">
        <p14:creationId xmlns:p14="http://schemas.microsoft.com/office/powerpoint/2010/main" val="2530571506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38F2-85E5-2E11-0EB0-1C9AB439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AD85-4D77-A12E-A004-B0EE9A4A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C553-75D8-7927-58DA-97335849D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r>
              <a:rPr lang="en-US" dirty="0"/>
              <a:t>Render Header</a:t>
            </a:r>
          </a:p>
          <a:p>
            <a:r>
              <a:rPr lang="en-US" dirty="0"/>
              <a:t>Verify title appears</a:t>
            </a:r>
          </a:p>
        </p:txBody>
      </p:sp>
    </p:spTree>
    <p:extLst>
      <p:ext uri="{BB962C8B-B14F-4D97-AF65-F5344CB8AC3E}">
        <p14:creationId xmlns:p14="http://schemas.microsoft.com/office/powerpoint/2010/main" val="3970606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r>
              <a:rPr lang="en-US" dirty="0"/>
              <a:t>Text is visible</a:t>
            </a:r>
          </a:p>
          <a:p>
            <a:r>
              <a:rPr lang="en-US" dirty="0"/>
              <a:t>UI matches expectation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6EAF-1DC9-D8B5-DF9A-45643B5C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we check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4DF5-C5B7-AC2B-CFAC-275099BE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A10B-6FFF-220E-56FC-BDB9B434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8A028-59EF-1FDB-C602-31C4B53B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Test what users see</a:t>
            </a:r>
          </a:p>
        </p:txBody>
      </p:sp>
    </p:spTree>
    <p:extLst>
      <p:ext uri="{BB962C8B-B14F-4D97-AF65-F5344CB8AC3E}">
        <p14:creationId xmlns:p14="http://schemas.microsoft.com/office/powerpoint/2010/main" val="1209829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Testing Interaction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3F09-9F47-B532-ED3D-9B97E889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C474-142C-BE2E-7648-6CE7D767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54EE6-6A91-62DA-C31C-991E665AF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1"/>
            <a:ext cx="10515600" cy="2464526"/>
          </a:xfrm>
        </p:spPr>
        <p:txBody>
          <a:bodyPr>
            <a:normAutofit/>
          </a:bodyPr>
          <a:lstStyle/>
          <a:p>
            <a:r>
              <a:rPr lang="en-US" sz="2400" dirty="0"/>
              <a:t>Click a button</a:t>
            </a:r>
          </a:p>
          <a:p>
            <a:r>
              <a:rPr lang="en-US" sz="2400" dirty="0"/>
              <a:t>Verify behavior</a:t>
            </a:r>
          </a:p>
        </p:txBody>
      </p:sp>
    </p:spTree>
    <p:extLst>
      <p:ext uri="{BB962C8B-B14F-4D97-AF65-F5344CB8AC3E}">
        <p14:creationId xmlns:p14="http://schemas.microsoft.com/office/powerpoint/2010/main" val="3302467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6AC7-34C7-391E-DA78-E8EA5161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3DC8-1C6A-DAF3-893D-045A9B9FC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30DD-2499-4961-106A-AF0B0B50B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r>
              <a:rPr lang="en-US" dirty="0"/>
              <a:t>Event handlers run</a:t>
            </a:r>
          </a:p>
          <a:p>
            <a:r>
              <a:rPr lang="en-US" dirty="0"/>
              <a:t>UI responds correctly</a:t>
            </a:r>
          </a:p>
        </p:txBody>
      </p:sp>
    </p:spTree>
    <p:extLst>
      <p:ext uri="{BB962C8B-B14F-4D97-AF65-F5344CB8AC3E}">
        <p14:creationId xmlns:p14="http://schemas.microsoft.com/office/powerpoint/2010/main" val="1346575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8D07-9C0A-212F-E672-573F73B8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E04-E2AD-DE52-5B46-79560BBF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28C9-9414-0BD3-EE40-D4B26590A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Simulate real user actions</a:t>
            </a:r>
          </a:p>
        </p:txBody>
      </p:sp>
    </p:spTree>
    <p:extLst>
      <p:ext uri="{BB962C8B-B14F-4D97-AF65-F5344CB8AC3E}">
        <p14:creationId xmlns:p14="http://schemas.microsoft.com/office/powerpoint/2010/main" val="762327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F4B9-5EF7-45D9-EA7E-84CE3F6D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93FC-78C3-8922-AE97-05FE47E2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Testing Props</a:t>
            </a:r>
          </a:p>
        </p:txBody>
      </p:sp>
    </p:spTree>
    <p:extLst>
      <p:ext uri="{BB962C8B-B14F-4D97-AF65-F5344CB8AC3E}">
        <p14:creationId xmlns:p14="http://schemas.microsoft.com/office/powerpoint/2010/main" val="1029526532"/>
      </p:ext>
    </p:extLst>
  </p:cSld>
  <p:clrMapOvr>
    <a:masterClrMapping/>
  </p:clrMapOvr>
  <p:transition spd="med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0CB6-4F87-BC2A-3FD5-BCB3A3A2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A497-7A31-45E8-D451-B5B7004B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8FB31-2570-DDEF-B755-77F8CC7DD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r>
              <a:rPr lang="en-US" dirty="0"/>
              <a:t>Pass data into a component</a:t>
            </a:r>
          </a:p>
          <a:p>
            <a:r>
              <a:rPr lang="en-US" dirty="0"/>
              <a:t>Verify it renders correctly</a:t>
            </a:r>
          </a:p>
        </p:txBody>
      </p:sp>
    </p:spTree>
    <p:extLst>
      <p:ext uri="{BB962C8B-B14F-4D97-AF65-F5344CB8AC3E}">
        <p14:creationId xmlns:p14="http://schemas.microsoft.com/office/powerpoint/2010/main" val="25175419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DD66-8249-FA61-FE0D-85395E1B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80ECB-D96E-EFAB-D94F-E16AFE49E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Correct values appear</a:t>
            </a:r>
          </a:p>
          <a:p>
            <a:r>
              <a:rPr lang="en-US" dirty="0"/>
              <a:t>UI updates based on props</a:t>
            </a:r>
          </a:p>
        </p:txBody>
      </p:sp>
    </p:spTree>
    <p:extLst>
      <p:ext uri="{BB962C8B-B14F-4D97-AF65-F5344CB8AC3E}">
        <p14:creationId xmlns:p14="http://schemas.microsoft.com/office/powerpoint/2010/main" val="4016661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1653-8E7B-3CD9-8EB3-254263A1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3480F-0FC1-646A-A9D0-EFE736228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Props drive UI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913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5DF9-793F-1FAF-D419-B8820731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DF95-4BCB-359D-6846-92D12E45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Conditional Rendering</a:t>
            </a:r>
          </a:p>
        </p:txBody>
      </p:sp>
    </p:spTree>
    <p:extLst>
      <p:ext uri="{BB962C8B-B14F-4D97-AF65-F5344CB8AC3E}">
        <p14:creationId xmlns:p14="http://schemas.microsoft.com/office/powerpoint/2010/main" val="689153176"/>
      </p:ext>
    </p:extLst>
  </p:cSld>
  <p:clrMapOvr>
    <a:masterClrMapping/>
  </p:clrMapOvr>
  <p:transition spd="med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4FA57-10D5-A117-3A1B-B373D87D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BDEC-071A-F79E-5076-DA7D7D94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A478-3982-31CF-B727-5AA691D88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>
            <a:normAutofit/>
          </a:bodyPr>
          <a:lstStyle/>
          <a:p>
            <a:r>
              <a:rPr lang="en-US" dirty="0"/>
              <a:t>No data -&gt; show placeholder</a:t>
            </a:r>
          </a:p>
          <a:p>
            <a:r>
              <a:rPr lang="en-US" dirty="0"/>
              <a:t>Data present -&gt; show content</a:t>
            </a:r>
          </a:p>
        </p:txBody>
      </p:sp>
    </p:spTree>
    <p:extLst>
      <p:ext uri="{BB962C8B-B14F-4D97-AF65-F5344CB8AC3E}">
        <p14:creationId xmlns:p14="http://schemas.microsoft.com/office/powerpoint/2010/main" val="24943338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B48C-F68C-CD00-9803-ED4D7D69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CCE13-EF15-42D8-A4CD-D8D2BCDD2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r>
              <a:rPr lang="en-US" dirty="0"/>
              <a:t>Correct UI for each state</a:t>
            </a:r>
          </a:p>
        </p:txBody>
      </p:sp>
    </p:spTree>
    <p:extLst>
      <p:ext uri="{BB962C8B-B14F-4D97-AF65-F5344CB8AC3E}">
        <p14:creationId xmlns:p14="http://schemas.microsoft.com/office/powerpoint/2010/main" val="28702706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D73E-C76C-4D4D-2969-076FDC52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4DF62-C5FA-D11B-979B-146B7E600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different UI states</a:t>
            </a:r>
          </a:p>
        </p:txBody>
      </p:sp>
    </p:spTree>
    <p:extLst>
      <p:ext uri="{BB962C8B-B14F-4D97-AF65-F5344CB8AC3E}">
        <p14:creationId xmlns:p14="http://schemas.microsoft.com/office/powerpoint/2010/main" val="26324742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44339-BD9A-21B5-FA7D-D5BD6037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E4AC-9E43-4FA3-FDE1-7DECFFC5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Good Tests</a:t>
            </a:r>
          </a:p>
        </p:txBody>
      </p:sp>
    </p:spTree>
    <p:extLst>
      <p:ext uri="{BB962C8B-B14F-4D97-AF65-F5344CB8AC3E}">
        <p14:creationId xmlns:p14="http://schemas.microsoft.com/office/powerpoint/2010/main" val="1520379304"/>
      </p:ext>
    </p:extLst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B8D0-D1BE-175A-7217-5CD3076F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DB13C-8C2E-36FA-D2DB-1EA04B2E4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</a:t>
            </a:r>
          </a:p>
          <a:p>
            <a:r>
              <a:rPr lang="en-US" dirty="0"/>
              <a:t>Focused</a:t>
            </a:r>
          </a:p>
          <a:p>
            <a:r>
              <a:rPr lang="en-US" dirty="0"/>
              <a:t>Easy to read</a:t>
            </a:r>
          </a:p>
        </p:txBody>
      </p:sp>
    </p:spTree>
    <p:extLst>
      <p:ext uri="{BB962C8B-B14F-4D97-AF65-F5344CB8AC3E}">
        <p14:creationId xmlns:p14="http://schemas.microsoft.com/office/powerpoint/2010/main" val="318943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7615-9E09-C46F-44C1-E55785A4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Each test should: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7CE31-5DF0-7A60-9994-74854A11F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r>
              <a:rPr lang="en-US" dirty="0"/>
              <a:t>Verify one behavior</a:t>
            </a:r>
          </a:p>
          <a:p>
            <a:r>
              <a:rPr lang="en-US" dirty="0"/>
              <a:t>Be clearly named</a:t>
            </a:r>
          </a:p>
        </p:txBody>
      </p:sp>
    </p:spTree>
    <p:extLst>
      <p:ext uri="{BB962C8B-B14F-4D97-AF65-F5344CB8AC3E}">
        <p14:creationId xmlns:p14="http://schemas.microsoft.com/office/powerpoint/2010/main" val="22797672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EA8D-F773-31CB-0B62-2AFB8FB6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7752B-50FD-CAAD-8E85-DFAF0A800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Simple tests are better tests</a:t>
            </a:r>
          </a:p>
        </p:txBody>
      </p:sp>
    </p:spTree>
    <p:extLst>
      <p:ext uri="{BB962C8B-B14F-4D97-AF65-F5344CB8AC3E}">
        <p14:creationId xmlns:p14="http://schemas.microsoft.com/office/powerpoint/2010/main" val="6015050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EB21-3759-DEBF-43FE-65129957C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6BA4-C9D3-CA35-C037-7C5DA184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Common Mistakes</a:t>
            </a:r>
          </a:p>
        </p:txBody>
      </p:sp>
    </p:spTree>
    <p:extLst>
      <p:ext uri="{BB962C8B-B14F-4D97-AF65-F5344CB8AC3E}">
        <p14:creationId xmlns:p14="http://schemas.microsoft.com/office/powerpoint/2010/main" val="3430618576"/>
      </p:ext>
    </p:extLst>
  </p:cSld>
  <p:clrMapOvr>
    <a:masterClrMapping/>
  </p:clrMapOvr>
  <p:transition spd="med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3062-21A8-A3BE-79C8-AAE70E95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Mistake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1F50B-9B26-0C2A-14D5-F87575B4E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Testing implementation details</a:t>
            </a:r>
          </a:p>
        </p:txBody>
      </p:sp>
    </p:spTree>
    <p:extLst>
      <p:ext uri="{BB962C8B-B14F-4D97-AF65-F5344CB8AC3E}">
        <p14:creationId xmlns:p14="http://schemas.microsoft.com/office/powerpoint/2010/main" val="14391465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DC3A8-A41F-E85D-0FB6-CF74BC17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Mistake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78955-E01B-ABB7-EDAA-92B1F76D2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Testing too much at once</a:t>
            </a:r>
          </a:p>
        </p:txBody>
      </p:sp>
    </p:spTree>
    <p:extLst>
      <p:ext uri="{BB962C8B-B14F-4D97-AF65-F5344CB8AC3E}">
        <p14:creationId xmlns:p14="http://schemas.microsoft.com/office/powerpoint/2010/main" val="38380362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3501-9028-8F21-7A5E-4C50F9561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Mistake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226F0-0982-3F80-9C7F-A0F1EC56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Unclear test names</a:t>
            </a:r>
          </a:p>
        </p:txBody>
      </p:sp>
    </p:spTree>
    <p:extLst>
      <p:ext uri="{BB962C8B-B14F-4D97-AF65-F5344CB8AC3E}">
        <p14:creationId xmlns:p14="http://schemas.microsoft.com/office/powerpoint/2010/main" val="36827984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3A30-EFEF-255F-9F34-4BB64CD2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65310-34C5-5796-7A0F-F0E29E46D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24645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Clarity over complexity</a:t>
            </a:r>
          </a:p>
        </p:txBody>
      </p:sp>
    </p:spTree>
    <p:extLst>
      <p:ext uri="{BB962C8B-B14F-4D97-AF65-F5344CB8AC3E}">
        <p14:creationId xmlns:p14="http://schemas.microsoft.com/office/powerpoint/2010/main" val="1683067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Exercise: Implement tests in your existing example project.</a:t>
            </a:r>
          </a:p>
          <a:p>
            <a:pPr marL="0" indent="0">
              <a:buNone/>
            </a:pPr>
            <a:r>
              <a:rPr lang="en-CA" b="1" dirty="0"/>
              <a:t>Objective: Implement automated component tests</a:t>
            </a:r>
            <a:r>
              <a:rPr lang="en-CA" dirty="0"/>
              <a:t>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Install the necessary packages.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Configure the test environment.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Write the desired </a:t>
            </a:r>
            <a:r>
              <a:rPr lang="en-CA"/>
              <a:t>component tests.</a:t>
            </a:r>
            <a:endParaRPr lang="en-CA" dirty="0"/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tests focus 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Internal state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Implementation details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User behavior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Code structure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this lesson, we covered the following:</a:t>
            </a:r>
          </a:p>
          <a:p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Explain why testing is important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Understand behavior-focused testing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Configure </a:t>
            </a:r>
            <a:r>
              <a:rPr lang="en-US" dirty="0" err="1"/>
              <a:t>Vitest</a:t>
            </a:r>
            <a:r>
              <a:rPr lang="en-US" dirty="0"/>
              <a:t> for browser testing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Write basic unit tests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Test component rendering and interaction</a:t>
            </a:r>
          </a:p>
          <a:p>
            <a:pPr marL="971527" lvl="1" indent="-51435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Complete the lesson 27 checklist</a:t>
            </a:r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testing is important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behavior-based testing means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example of a good test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common mistake to avoid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17371</TotalTime>
  <Words>530</Words>
  <Application>Microsoft Macintosh PowerPoint</Application>
  <PresentationFormat>Widescreen</PresentationFormat>
  <Paragraphs>171</Paragraphs>
  <Slides>53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What have we accomplished so far…</vt:lpstr>
      <vt:lpstr>The new question</vt:lpstr>
      <vt:lpstr>Key idea</vt:lpstr>
      <vt:lpstr>Why Test?</vt:lpstr>
      <vt:lpstr>Testing helps us:</vt:lpstr>
      <vt:lpstr>Without tests</vt:lpstr>
      <vt:lpstr>With tests</vt:lpstr>
      <vt:lpstr>Testing Philosophy</vt:lpstr>
      <vt:lpstr>Focus on behavior</vt:lpstr>
      <vt:lpstr>Avoid testing</vt:lpstr>
      <vt:lpstr>Key idea</vt:lpstr>
      <vt:lpstr>Testing Tools</vt:lpstr>
      <vt:lpstr>Our stack</vt:lpstr>
      <vt:lpstr>What each does</vt:lpstr>
      <vt:lpstr>Key idea</vt:lpstr>
      <vt:lpstr>First Test</vt:lpstr>
      <vt:lpstr>What are we doing?</vt:lpstr>
      <vt:lpstr>Example flow</vt:lpstr>
      <vt:lpstr>Mental model</vt:lpstr>
      <vt:lpstr>Testing Rendering</vt:lpstr>
      <vt:lpstr>Example</vt:lpstr>
      <vt:lpstr>What we check</vt:lpstr>
      <vt:lpstr>Key idea</vt:lpstr>
      <vt:lpstr>Testing Interaction</vt:lpstr>
      <vt:lpstr>Example</vt:lpstr>
      <vt:lpstr>What we check</vt:lpstr>
      <vt:lpstr>Key idea</vt:lpstr>
      <vt:lpstr>Testing Props</vt:lpstr>
      <vt:lpstr>Example</vt:lpstr>
      <vt:lpstr>What we check</vt:lpstr>
      <vt:lpstr>Key idea</vt:lpstr>
      <vt:lpstr>Conditional Rendering</vt:lpstr>
      <vt:lpstr>Example</vt:lpstr>
      <vt:lpstr>What we check</vt:lpstr>
      <vt:lpstr>Key idea</vt:lpstr>
      <vt:lpstr>Good Tests</vt:lpstr>
      <vt:lpstr>Characteristics</vt:lpstr>
      <vt:lpstr>Each test should:</vt:lpstr>
      <vt:lpstr>Key idea</vt:lpstr>
      <vt:lpstr>Common Mistakes</vt:lpstr>
      <vt:lpstr>Mistake 1</vt:lpstr>
      <vt:lpstr>Mistake 2</vt:lpstr>
      <vt:lpstr>Mistake 3</vt:lpstr>
      <vt:lpstr>Key idea</vt:lpstr>
      <vt:lpstr>Hands-on Practice</vt:lpstr>
      <vt:lpstr>Quick Poll</vt:lpstr>
      <vt:lpstr>What should tests focus on?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306</cp:revision>
  <dcterms:created xsi:type="dcterms:W3CDTF">2025-05-09T22:20:28Z</dcterms:created>
  <dcterms:modified xsi:type="dcterms:W3CDTF">2026-04-07T01:28:02Z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